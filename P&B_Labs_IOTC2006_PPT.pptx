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embeddedFontLst>
    <p:embeddedFont>
      <p:font typeface="Quattrocento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1E54FA-A227-45DD-9998-35C40ED86CE9}">
  <a:tblStyle styleId="{621E54FA-A227-45DD-9998-35C40ED86C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QuattrocentoSans-regular.fnt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QuattrocentoSans-italic.fntdata"/><Relationship Id="rId23" Type="http://schemas.openxmlformats.org/officeDocument/2006/relationships/slide" Target="slides/slide17.xml"/><Relationship Id="rId45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Quattrocento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7d1f494c0_1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e7d1f494c0_1_2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e7d1f494c0_1_2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7d1f494c0_1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e7d1f494c0_1_2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g3e7d1f494c0_1_2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7d1f494c0_1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7d1f494c0_1_2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e7d1f494c0_1_2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7da7e9cfa_2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e7da7e9cfa_2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3e7da7e9cfa_2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7da7e9cfa_2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e7da7e9cfa_2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3e7da7e9cfa_2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7da7e9cfa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e7da7e9cfa_2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e7da7e9cfa_2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7da7e9cfa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e7da7e9cfa_2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3e7da7e9cfa_2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7da7e9cfa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e7da7e9cfa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3" name="Google Shape;423;g3e7da7e9cfa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7da7e9cfa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e7da7e9cfa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5" name="Google Shape;435;g3e7da7e9cfa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7d10964b9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e7d10964b9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7" name="Google Shape;447;g3e7d10964b9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7da7e9cfa_1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e7da7e9cfa_1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7" name="Google Shape;457;g3e7da7e9cfa_1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7da7e9cfa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e7da7e9cfa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7" name="Google Shape;507;g3e7da7e9cfa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7d10964b9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e7d10964b9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7" name="Google Shape;517;g3e7d10964b9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7d10964b9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e7d10964b9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9" name="Google Shape;529;g3e7d10964b9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7d16bd185_6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e7d16bd185_6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9" name="Google Shape;539;g3e7d16bd185_6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7e24a501e_2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e7e24a501e_2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9" name="Google Shape;549;g3e7e24a501e_2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1129fba7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e1129fba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62" name="Google Shape;562;g3e1129fba7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1129fba7e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e1129fba7e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2" name="Google Shape;572;g3e1129fba7e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e1129fba7e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e1129fba7e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82" name="Google Shape;582;g3e1129fba7e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e7e24a501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e7e24a501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g3e7e24a501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7e24a501e_8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e7e24a501e_8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g3e7e24a501e_8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7e24a501e_8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e7e24a501e_8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e7e24a501e_8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1129fba7e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e1129fba7e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3e1129fba7e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e1129fba7e_5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e1129fba7e_5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e1129fba7e_5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e7e24a501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e7e24a501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g3e7e24a501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e7d1f494c0_1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e7d1f494c0_1_2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4" name="Google Shape;704;g3e7d1f494c0_1_2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e7d1f494c0_1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e7d1f494c0_1_2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g3e7d1f494c0_1_2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e7e24a501e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e7e24a501e_7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e7e24a501e_7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e7e24a501e_7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e7e24a501e_7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e7e24a501e_7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7e24a501e_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e7e24a501e_9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e7e24a501e_9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e1129fba7e_8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e1129fba7e_8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e1129fba7e_8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e1129fba7e_8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e1129fba7e_8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g3e1129fba7e_8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e1129fba7e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3e1129fba7e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3e1129fba7e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e1129fba7e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g3e1129fba7e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4" name="Google Shape;844;g3e1129fba7e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1129fba7e_9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3e1129fba7e_9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7" name="Google Shape;857;g3e1129fba7e_9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1129fba7e_9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3e1129fba7e_9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e1129fba7e_9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e7d1f494c0_1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2" name="Google Shape;882;g3e7d1f494c0_1_3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3" name="Google Shape;883;g3e7d1f494c0_1_3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1133" y="112327"/>
            <a:ext cx="1804894" cy="78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1133" y="112327"/>
            <a:ext cx="1804894" cy="78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226D"/>
              </a:buClr>
              <a:buSzPts val="2800"/>
              <a:buFont typeface="Arial"/>
              <a:buNone/>
              <a:defRPr sz="2800">
                <a:solidFill>
                  <a:srgbClr val="19226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>
  <p:cSld name="8_Blank"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>
  <p:cSld name="5_Blank">
    <p:bg>
      <p:bgPr>
        <a:solidFill>
          <a:srgbClr val="F3712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>
  <p:cSld name="10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gradFill>
          <a:gsLst>
            <a:gs pos="0">
              <a:srgbClr val="F37121"/>
            </a:gs>
            <a:gs pos="100000">
              <a:srgbClr val="CC540B"/>
            </a:gs>
          </a:gsLst>
          <a:lin ang="10800000" scaled="0"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201194" y="0"/>
            <a:ext cx="113160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26"/>
          <p:cNvSpPr txBox="1"/>
          <p:nvPr>
            <p:ph type="title"/>
          </p:nvPr>
        </p:nvSpPr>
        <p:spPr>
          <a:xfrm>
            <a:off x="6096000" y="2031423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41573" y="188969"/>
            <a:ext cx="10692406" cy="648006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5" name="Google Shape;225;p27"/>
          <p:cNvSpPr txBox="1"/>
          <p:nvPr>
            <p:ph type="title"/>
          </p:nvPr>
        </p:nvSpPr>
        <p:spPr>
          <a:xfrm>
            <a:off x="1130460" y="1904022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50496" y="0"/>
            <a:ext cx="5741504" cy="6911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1505771" y="1904022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8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lank">
  <p:cSld name="11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29"/>
          <p:cNvSpPr txBox="1"/>
          <p:nvPr>
            <p:ph type="title"/>
          </p:nvPr>
        </p:nvSpPr>
        <p:spPr>
          <a:xfrm>
            <a:off x="6524263" y="2014074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9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p30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0" name="Google Shape;260;p3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3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3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31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3" name="Google Shape;283;p33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3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rgbClr val="B5B5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rgbClr val="B5B5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6" name="Google Shape;306;p36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model2">
  <p:cSld name="slidemodel2"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3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7" name="Google Shape;317;p3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rgbClr val="B5B5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6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hyperlink" Target="https://acdc.vn/vi/bao-cao-dieu-tra-quoc-gia-ve-nguoi-khuyet-tat-vipdf-841.html" TargetMode="External"/><Relationship Id="rId5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46.png"/><Relationship Id="rId22" Type="http://schemas.openxmlformats.org/officeDocument/2006/relationships/image" Target="../media/image44.png"/><Relationship Id="rId21" Type="http://schemas.openxmlformats.org/officeDocument/2006/relationships/image" Target="../media/image41.png"/><Relationship Id="rId23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9" Type="http://schemas.openxmlformats.org/officeDocument/2006/relationships/image" Target="../media/image43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Relationship Id="rId11" Type="http://schemas.openxmlformats.org/officeDocument/2006/relationships/image" Target="../media/image23.png"/><Relationship Id="rId10" Type="http://schemas.openxmlformats.org/officeDocument/2006/relationships/image" Target="../media/image19.png"/><Relationship Id="rId13" Type="http://schemas.openxmlformats.org/officeDocument/2006/relationships/image" Target="../media/image26.png"/><Relationship Id="rId12" Type="http://schemas.openxmlformats.org/officeDocument/2006/relationships/image" Target="../media/image30.png"/><Relationship Id="rId15" Type="http://schemas.openxmlformats.org/officeDocument/2006/relationships/image" Target="../media/image42.png"/><Relationship Id="rId14" Type="http://schemas.openxmlformats.org/officeDocument/2006/relationships/image" Target="../media/image31.png"/><Relationship Id="rId17" Type="http://schemas.openxmlformats.org/officeDocument/2006/relationships/image" Target="../media/image37.png"/><Relationship Id="rId16" Type="http://schemas.openxmlformats.org/officeDocument/2006/relationships/image" Target="../media/image38.png"/><Relationship Id="rId19" Type="http://schemas.openxmlformats.org/officeDocument/2006/relationships/image" Target="../media/image39.png"/><Relationship Id="rId1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8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8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9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69.png"/><Relationship Id="rId7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Relationship Id="rId7" Type="http://schemas.openxmlformats.org/officeDocument/2006/relationships/image" Target="../media/image61.png"/><Relationship Id="rId8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57.png"/><Relationship Id="rId9" Type="http://schemas.openxmlformats.org/officeDocument/2006/relationships/image" Target="../media/image64.png"/><Relationship Id="rId5" Type="http://schemas.openxmlformats.org/officeDocument/2006/relationships/image" Target="../media/image60.png"/><Relationship Id="rId6" Type="http://schemas.openxmlformats.org/officeDocument/2006/relationships/image" Target="../media/image58.png"/><Relationship Id="rId7" Type="http://schemas.openxmlformats.org/officeDocument/2006/relationships/image" Target="../media/image89.png"/><Relationship Id="rId8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8.png"/><Relationship Id="rId7" Type="http://schemas.openxmlformats.org/officeDocument/2006/relationships/image" Target="../media/image77.png"/><Relationship Id="rId8" Type="http://schemas.openxmlformats.org/officeDocument/2006/relationships/image" Target="../media/image7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71.png"/><Relationship Id="rId7" Type="http://schemas.openxmlformats.org/officeDocument/2006/relationships/image" Target="../media/image76.png"/><Relationship Id="rId8" Type="http://schemas.openxmlformats.org/officeDocument/2006/relationships/image" Target="../media/image8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9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9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9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88.png"/><Relationship Id="rId5" Type="http://schemas.openxmlformats.org/officeDocument/2006/relationships/image" Target="../media/image8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hyperlink" Target="http://drive.google.com/file/d/1oEjv5l-vT6035US-zDoDhrzohJ-xEMpg/view" TargetMode="External"/><Relationship Id="rId5" Type="http://schemas.openxmlformats.org/officeDocument/2006/relationships/image" Target="../media/image86.jpg"/><Relationship Id="rId6" Type="http://schemas.openxmlformats.org/officeDocument/2006/relationships/hyperlink" Target="https://drive.google.com/file/d/1oEjv5l-vT6035US-zDoDhrzohJ-xEMpg/view?usp=sharing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91.jpg"/><Relationship Id="rId5" Type="http://schemas.openxmlformats.org/officeDocument/2006/relationships/image" Target="../media/image9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9"/>
          <p:cNvSpPr txBox="1"/>
          <p:nvPr/>
        </p:nvSpPr>
        <p:spPr>
          <a:xfrm>
            <a:off x="652400" y="2749254"/>
            <a:ext cx="110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39"/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331" name="Google Shape;331;p39"/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fmla="val 50000" name="adj"/>
              </a:avLst>
            </a:prstGeom>
            <a:solidFill>
              <a:srgbClr val="F37121">
                <a:alpha val="20000"/>
              </a:srgbClr>
            </a:solidFill>
            <a:ln cap="flat" cmpd="sng" w="12700">
              <a:solidFill>
                <a:srgbClr val="F371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Quattrocento Sans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9"/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May </a:t>
              </a:r>
              <a:r>
                <a:rPr lang="en-US" sz="16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13</a:t>
              </a:r>
              <a:r>
                <a:rPr b="0" i="0" lang="en-US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,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3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8" name="Google Shape;338;p3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9" name="Google Shape;339;p39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39"/>
          <p:cNvSpPr txBox="1"/>
          <p:nvPr/>
        </p:nvSpPr>
        <p:spPr>
          <a:xfrm>
            <a:off x="3170652" y="5825991"/>
            <a:ext cx="110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</a:rPr>
              <a:t>Team Name: P&amp;B Labs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7477" y="262288"/>
            <a:ext cx="4928750" cy="2134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9" title="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725" y="376525"/>
            <a:ext cx="1854950" cy="9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9"/>
          <p:cNvSpPr txBox="1"/>
          <p:nvPr/>
        </p:nvSpPr>
        <p:spPr>
          <a:xfrm>
            <a:off x="423300" y="2452200"/>
            <a:ext cx="11345400" cy="2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Project Title: Omni Arm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</a:rPr>
              <a:t>A Smart Prosthetic Arm System With AI - Based EMG Motion Intent Recognition, Health Monitoring, and Real - Time Emergency Alert for Caregiver Connectivity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logo with a black background&#10;&#10;AI-generated content may be incorrect." id="349" name="Google Shape;3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 txBox="1"/>
          <p:nvPr/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content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0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40"/>
          <p:cNvSpPr txBox="1"/>
          <p:nvPr/>
        </p:nvSpPr>
        <p:spPr>
          <a:xfrm>
            <a:off x="389627" y="1152950"/>
            <a:ext cx="11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</a:t>
            </a:r>
            <a:endParaRPr b="1"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986136" y="1668450"/>
            <a:ext cx="761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Problem statement &amp;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0"/>
          <p:cNvSpPr txBox="1"/>
          <p:nvPr/>
        </p:nvSpPr>
        <p:spPr>
          <a:xfrm>
            <a:off x="986065" y="2254250"/>
            <a:ext cx="44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System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 txBox="1"/>
          <p:nvPr/>
        </p:nvSpPr>
        <p:spPr>
          <a:xfrm>
            <a:off x="985825" y="2922600"/>
            <a:ext cx="69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Edge AI solution — EMG signal processing &amp; TinyML inference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985800" y="3590975"/>
            <a:ext cx="713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Wireless technology — BLE &amp; Wi-Fi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987552" y="4206240"/>
            <a:ext cx="77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Hardware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985783" y="4935175"/>
            <a:ext cx="78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Mobile application &amp; cloud integration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en-US"/>
              <a:t>Introduction</a:t>
            </a:r>
            <a:endParaRPr/>
          </a:p>
        </p:txBody>
      </p:sp>
      <p:sp>
        <p:nvSpPr>
          <p:cNvPr id="365" name="Google Shape;365;p41"/>
          <p:cNvSpPr txBox="1"/>
          <p:nvPr>
            <p:ph idx="12" type="sldNum"/>
          </p:nvPr>
        </p:nvSpPr>
        <p:spPr>
          <a:xfrm>
            <a:off x="11311875" y="66060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41"/>
          <p:cNvSpPr txBox="1"/>
          <p:nvPr/>
        </p:nvSpPr>
        <p:spPr>
          <a:xfrm>
            <a:off x="389629" y="1152950"/>
            <a:ext cx="3837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Logo: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Name: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P&amp;B Labs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Size: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Lead Name: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 Minh Triet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logo with a black background&#10;&#10;AI-generated content may be incorrect." id="367" name="Google Shape;3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1"/>
          <p:cNvSpPr txBox="1"/>
          <p:nvPr/>
        </p:nvSpPr>
        <p:spPr>
          <a:xfrm>
            <a:off x="389625" y="3526750"/>
            <a:ext cx="392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 Minh Triet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Posts and Telecommunications Institute of Technology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Group:Electronics and Telecommunications Engineering, Class of 2029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minhtriett463@gmai.com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389615" y="3218914"/>
            <a:ext cx="25585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Members (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 txBox="1"/>
          <p:nvPr/>
        </p:nvSpPr>
        <p:spPr>
          <a:xfrm>
            <a:off x="389633" y="5142475"/>
            <a:ext cx="3837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Nguyen Duc Tr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ung Kien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Ho Chi Minh University of Technology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Computer Science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Engineering, Class of 2028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kien.nguyenhcmut@hcmut.edu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.vn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creter_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1"/>
          <p:cNvSpPr txBox="1"/>
          <p:nvPr/>
        </p:nvSpPr>
        <p:spPr>
          <a:xfrm>
            <a:off x="4513275" y="3526750"/>
            <a:ext cx="3504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Nguyen Minh Quan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Posts and Telecommunications Institute of Technology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Electronics and Telecommunications Engineering, Class of 2029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nmquan3108@gmail.com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minquan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1"/>
          <p:cNvSpPr txBox="1"/>
          <p:nvPr/>
        </p:nvSpPr>
        <p:spPr>
          <a:xfrm>
            <a:off x="8508495" y="3526750"/>
            <a:ext cx="3199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Tan Hieu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 and Telecommunications Institute of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Electronics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Telecommunicat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ion Engineering, sophomore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Helos180506@gmail.com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1"/>
          <p:cNvSpPr txBox="1"/>
          <p:nvPr/>
        </p:nvSpPr>
        <p:spPr>
          <a:xfrm>
            <a:off x="4513275" y="5142475"/>
            <a:ext cx="3837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Hoang Ba Duy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Post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and Telecommunications Institute of Technology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Information Security, class of 2029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dp1.0a5.duy@gmail.com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DuyH07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41" title="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0475" y="1355982"/>
            <a:ext cx="741901" cy="404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2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pic>
        <p:nvPicPr>
          <p:cNvPr descr="A white logo with a black background&#10;&#10;AI-generated content may be incorrect." id="381" name="Google Shape;3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2"/>
          <p:cNvSpPr txBox="1"/>
          <p:nvPr/>
        </p:nvSpPr>
        <p:spPr>
          <a:xfrm>
            <a:off x="364677" y="1768600"/>
            <a:ext cx="6922800" cy="5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Lack of Preventive Care and Automated Warnings for Amputees</a:t>
            </a:r>
            <a:endParaRPr b="1"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</a:t>
            </a:r>
            <a:r>
              <a:rPr b="1" lang="en-US" sz="1700"/>
              <a:t>Pain Point: </a:t>
            </a:r>
            <a:r>
              <a:rPr lang="en-US" sz="1700"/>
              <a:t>According to</a:t>
            </a:r>
            <a:r>
              <a:rPr lang="en-US" sz="1700"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7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National Survey on People with Disabilities 2016, </a:t>
            </a:r>
            <a:r>
              <a:rPr lang="en-US" sz="1700"/>
              <a:t>Vietnam has an estimated </a:t>
            </a:r>
            <a:r>
              <a:rPr b="1" lang="en-US" sz="1700"/>
              <a:t>6.2–7 million people with disabilities</a:t>
            </a:r>
            <a:r>
              <a:rPr lang="en-US" sz="1700"/>
              <a:t> (over 7% of the population), with mobility impairments being the most prevalent category. Among adults aged 16 and above— a demographic at elevated risk for cardiovascular complications and stump infections. Despite this, current prosthetics </a:t>
            </a:r>
            <a:r>
              <a:rPr lang="en-US" sz="1700"/>
              <a:t>largely</a:t>
            </a:r>
            <a:r>
              <a:rPr lang="en-US" sz="1700"/>
              <a:t> lack continuous </a:t>
            </a:r>
            <a:r>
              <a:rPr b="1" lang="en-US" sz="1700"/>
              <a:t>health monitoring</a:t>
            </a:r>
            <a:r>
              <a:rPr lang="en-US" sz="1700"/>
              <a:t> and the capability to issue </a:t>
            </a:r>
            <a:r>
              <a:rPr b="1" lang="en-US" sz="1700"/>
              <a:t>automated warnings</a:t>
            </a:r>
            <a:r>
              <a:rPr lang="en-US" sz="1700"/>
              <a:t> during emergencies.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</a:t>
            </a:r>
            <a:r>
              <a:rPr b="1" lang="en-US" sz="1700"/>
              <a:t>Evidence:</a:t>
            </a:r>
            <a:r>
              <a:rPr lang="en-US" sz="1700"/>
              <a:t> Without real-time tracking of vital signs and socket conditions (e.g., temperature/humidity), severe complications often go unnoticed. Furthermore, medical data proves that automatic alerts and rapid intervention during the "golden hour" following a fall or stroke drastically improve survival rates.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383" name="Google Shape;38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7475" y="1874375"/>
            <a:ext cx="4774374" cy="41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2"/>
          <p:cNvSpPr txBox="1"/>
          <p:nvPr/>
        </p:nvSpPr>
        <p:spPr>
          <a:xfrm>
            <a:off x="0" y="950976"/>
            <a:ext cx="360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5" name="Google Shape;385;p42"/>
          <p:cNvSpPr txBox="1"/>
          <p:nvPr/>
        </p:nvSpPr>
        <p:spPr>
          <a:xfrm>
            <a:off x="8638575" y="6549700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2"/>
          <p:cNvSpPr txBox="1"/>
          <p:nvPr/>
        </p:nvSpPr>
        <p:spPr>
          <a:xfrm>
            <a:off x="9000350" y="7760875"/>
            <a:ext cx="90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393" name="Google Shape;393;p43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394" name="Google Shape;3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3"/>
          <p:cNvSpPr txBox="1"/>
          <p:nvPr/>
        </p:nvSpPr>
        <p:spPr>
          <a:xfrm>
            <a:off x="297400" y="1372475"/>
            <a:ext cx="6350400" cy="51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Vulnerability and Barriers to Independence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b="1" lang="en-US" sz="1700"/>
              <a:t> </a:t>
            </a:r>
            <a:r>
              <a:rPr b="1" i="1" lang="en-US" sz="1700"/>
              <a:t>Pain Point:</a:t>
            </a:r>
            <a:r>
              <a:rPr lang="en-US" sz="1700"/>
              <a:t> Limb loss causes high rates of anxiety. Users are at severe risk if they experience a medical emergency or fall while alone without a way to call for help.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b="1" lang="en-US" sz="1700"/>
              <a:t> </a:t>
            </a:r>
            <a:r>
              <a:rPr b="1" i="1" lang="en-US" sz="1700"/>
              <a:t>Evidence:</a:t>
            </a:r>
            <a:r>
              <a:rPr lang="en-US" sz="1700"/>
              <a:t> Medical data proves that intervention during the "golden hour" following an accident or stroke drastically improves survival rates. Clinical rehabilitation currently relies on subjective patient memory rather than continuous, real-time data. This lack of edge-monitoring delays personalized therapy adjustments and prolongs the patient's physical and mental suffering.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396" name="Google Shape;3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5229" y="1725637"/>
            <a:ext cx="4905346" cy="48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 txBox="1"/>
          <p:nvPr/>
        </p:nvSpPr>
        <p:spPr>
          <a:xfrm>
            <a:off x="0" y="950975"/>
            <a:ext cx="321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404" name="Google Shape;404;p44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405" name="Google Shape;40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4"/>
          <p:cNvSpPr txBox="1"/>
          <p:nvPr/>
        </p:nvSpPr>
        <p:spPr>
          <a:xfrm>
            <a:off x="391975" y="1874380"/>
            <a:ext cx="6946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Intuitive Control via EMG and AI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</a:t>
            </a:r>
            <a:r>
              <a:rPr i="1" lang="en-US" sz="1700"/>
              <a:t>Feature:</a:t>
            </a:r>
            <a:r>
              <a:rPr lang="en-US" sz="1700"/>
              <a:t> Uses Machine Learning to decode the user's unique Electromyography (EMG) signals instead of inflexible physical sensors.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</a:t>
            </a:r>
            <a:r>
              <a:rPr i="1" lang="en-US" sz="1700"/>
              <a:t>Impact:</a:t>
            </a:r>
            <a:r>
              <a:rPr lang="en-US" sz="1700"/>
              <a:t> Achieves &gt;90% accuracy in movement intention, minimizing latency for smooth, instant reactions and reducing training time from months to weeks.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Integrated Health Assistant at the Point of Contact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</a:t>
            </a:r>
            <a:r>
              <a:rPr i="1" lang="en-US" sz="1700"/>
              <a:t>Feature:</a:t>
            </a:r>
            <a:r>
              <a:rPr lang="en-US" sz="1700"/>
              <a:t> Micro-sensors for heart rate and temperature are built directly into the prosthetic socket touching the skin.</a:t>
            </a:r>
            <a:endParaRPr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• </a:t>
            </a:r>
            <a:r>
              <a:rPr i="1" lang="en-US" sz="1700"/>
              <a:t>Impact:</a:t>
            </a:r>
            <a:r>
              <a:rPr lang="en-US" sz="1700"/>
              <a:t> Continuous temperature monitoring allows for early detection of inflammation or infection at the stump, acting as an invaluable preventative tool.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407" name="Google Shape;40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4725" y="2108675"/>
            <a:ext cx="4853827" cy="364036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4"/>
          <p:cNvSpPr txBox="1"/>
          <p:nvPr/>
        </p:nvSpPr>
        <p:spPr>
          <a:xfrm>
            <a:off x="0" y="950976"/>
            <a:ext cx="372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415" name="Google Shape;415;p45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416" name="Google Shape;41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5"/>
          <p:cNvSpPr txBox="1"/>
          <p:nvPr/>
        </p:nvSpPr>
        <p:spPr>
          <a:xfrm>
            <a:off x="457200" y="1728905"/>
            <a:ext cx="6504900" cy="46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Feature: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Micro-sensors for heart rate, temperature, </a:t>
            </a: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and blood oxygen saturation (SpO2)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are built directly into the prosthetic socket touching the skin.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Data is processed locally via Edge AI to trigger subtle </a:t>
            </a: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haptic vibrations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on the device and syncs to a companion </a:t>
            </a: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mobile app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Impact: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Continuous monitoring allows for early detection of inflammation, while </a:t>
            </a: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real-time SpO2 tracking ensures healthy blood circulation at the stump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, acting as an invaluable preventative tool against tissue necrosis. Empowers users with immediate physical alerts to remove the prosthetic before severe damage occurs, while securely sharing long-term health trends with their doctors for remote monitoring. 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18" name="Google Shape;41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2100" y="2273465"/>
            <a:ext cx="4978074" cy="331871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5"/>
          <p:cNvSpPr txBox="1"/>
          <p:nvPr/>
        </p:nvSpPr>
        <p:spPr>
          <a:xfrm>
            <a:off x="0" y="950976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426" name="Google Shape;426;p46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46"/>
          <p:cNvSpPr txBox="1"/>
          <p:nvPr/>
        </p:nvSpPr>
        <p:spPr>
          <a:xfrm>
            <a:off x="152389" y="1028103"/>
            <a:ext cx="35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 white logo with a black background&#10;&#10;AI-generated content may be incorrect." id="428" name="Google Shape;4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6"/>
          <p:cNvSpPr txBox="1"/>
          <p:nvPr/>
        </p:nvSpPr>
        <p:spPr>
          <a:xfrm>
            <a:off x="0" y="9545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Flow: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0" name="Google Shape;430;p46"/>
          <p:cNvSpPr txBox="1"/>
          <p:nvPr/>
        </p:nvSpPr>
        <p:spPr>
          <a:xfrm>
            <a:off x="10089250" y="58635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46" title="customer_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038" y="1630250"/>
            <a:ext cx="11435474" cy="50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7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438" name="Google Shape;438;p47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47"/>
          <p:cNvSpPr txBox="1"/>
          <p:nvPr/>
        </p:nvSpPr>
        <p:spPr>
          <a:xfrm>
            <a:off x="-11" y="954490"/>
            <a:ext cx="35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 white logo with a black background&#10;&#10;AI-generated content may be incorrect." id="440" name="Google Shape;4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7"/>
          <p:cNvSpPr txBox="1"/>
          <p:nvPr/>
        </p:nvSpPr>
        <p:spPr>
          <a:xfrm>
            <a:off x="0" y="9545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Manager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Flow: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2" name="Google Shape;442;p47"/>
          <p:cNvSpPr txBox="1"/>
          <p:nvPr/>
        </p:nvSpPr>
        <p:spPr>
          <a:xfrm>
            <a:off x="10089250" y="58635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47" title="manager_flo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3362" y="1588275"/>
            <a:ext cx="9778524" cy="50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450" name="Google Shape;450;p48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48"/>
          <p:cNvSpPr txBox="1"/>
          <p:nvPr/>
        </p:nvSpPr>
        <p:spPr>
          <a:xfrm>
            <a:off x="0" y="966301"/>
            <a:ext cx="3504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i="0" sz="28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VERVIEW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i="0" sz="2000" u="none" cap="none" strike="noStrike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 white logo with a black background&#10;&#10;AI-generated content may be incorrect." id="452" name="Google Shape;4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8" title="01_tong_qu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87" y="1862064"/>
            <a:ext cx="11300624" cy="412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460" name="Google Shape;460;p49"/>
          <p:cNvSpPr txBox="1"/>
          <p:nvPr>
            <p:ph idx="12" type="sldNum"/>
          </p:nvPr>
        </p:nvSpPr>
        <p:spPr>
          <a:xfrm>
            <a:off x="11330888" y="6492178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p49"/>
          <p:cNvSpPr txBox="1"/>
          <p:nvPr/>
        </p:nvSpPr>
        <p:spPr>
          <a:xfrm>
            <a:off x="0" y="966301"/>
            <a:ext cx="3504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i="0" sz="28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Overview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i="0" sz="2000" u="none" cap="none" strike="noStrike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 white logo with a black background&#10;&#10;AI-generated content may be incorrect." id="462" name="Google Shape;4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363" y="1862083"/>
            <a:ext cx="1987988" cy="2468060"/>
          </a:xfrm>
          <a:prstGeom prst="rect">
            <a:avLst/>
          </a:prstGeom>
          <a:noFill/>
          <a:ln>
            <a:noFill/>
          </a:ln>
          <a:effectLst>
            <a:outerShdw blurRad="36929" rotWithShape="0" algn="bl" dir="5400000" dist="12310">
              <a:srgbClr val="000000">
                <a:alpha val="50000"/>
              </a:srgbClr>
            </a:outerShdw>
          </a:effectLst>
        </p:spPr>
      </p:pic>
      <p:pic>
        <p:nvPicPr>
          <p:cNvPr id="464" name="Google Shape;46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000" y="2190263"/>
            <a:ext cx="1698714" cy="109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8865" y="2941840"/>
            <a:ext cx="269097" cy="28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534" y="1894457"/>
            <a:ext cx="1895667" cy="221571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9"/>
          <p:cNvSpPr txBox="1"/>
          <p:nvPr/>
        </p:nvSpPr>
        <p:spPr>
          <a:xfrm>
            <a:off x="595534" y="1915780"/>
            <a:ext cx="18954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575" lIns="59100" spcFirstLastPara="1" rIns="59100" wrap="square" tIns="29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EMG ACQUISITION</a:t>
            </a:r>
            <a:endParaRPr b="1" i="0" sz="975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68" name="Google Shape;468;p49"/>
          <p:cNvCxnSpPr/>
          <p:nvPr/>
        </p:nvCxnSpPr>
        <p:spPr>
          <a:xfrm>
            <a:off x="4718604" y="3085782"/>
            <a:ext cx="205200" cy="0"/>
          </a:xfrm>
          <a:prstGeom prst="straightConnector1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9" name="Google Shape;469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0372" y="1872278"/>
            <a:ext cx="2018614" cy="251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9"/>
          <p:cNvPicPr preferRelativeResize="0"/>
          <p:nvPr/>
        </p:nvPicPr>
        <p:blipFill rotWithShape="1">
          <a:blip r:embed="rId9">
            <a:alphaModFix/>
          </a:blip>
          <a:srcRect b="0" l="2710" r="-2710" t="0"/>
          <a:stretch/>
        </p:blipFill>
        <p:spPr>
          <a:xfrm>
            <a:off x="5180491" y="1872287"/>
            <a:ext cx="1928498" cy="22529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9"/>
          <p:cNvSpPr txBox="1"/>
          <p:nvPr/>
        </p:nvSpPr>
        <p:spPr>
          <a:xfrm>
            <a:off x="5188165" y="1866268"/>
            <a:ext cx="185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100" lIns="60100" spcFirstLastPara="1" rIns="60100" wrap="square" tIns="6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ERF32xG</a:t>
            </a:r>
            <a:r>
              <a:rPr b="1" lang="en-US" sz="9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9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Egde AI</a:t>
            </a:r>
            <a:endParaRPr b="1" sz="98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72" name="Google Shape;472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22153" y="2160733"/>
            <a:ext cx="1730242" cy="1111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49"/>
          <p:cNvCxnSpPr>
            <a:endCxn id="474" idx="3"/>
          </p:cNvCxnSpPr>
          <p:nvPr/>
        </p:nvCxnSpPr>
        <p:spPr>
          <a:xfrm>
            <a:off x="7028786" y="3127924"/>
            <a:ext cx="507000" cy="0"/>
          </a:xfrm>
          <a:prstGeom prst="straightConnector1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5" name="Google Shape;47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9626" y="5533488"/>
            <a:ext cx="269097" cy="28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19347" y="4346691"/>
            <a:ext cx="2018076" cy="2510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80686" y="4369980"/>
            <a:ext cx="1928497" cy="24976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9"/>
          <p:cNvSpPr txBox="1"/>
          <p:nvPr/>
        </p:nvSpPr>
        <p:spPr>
          <a:xfrm>
            <a:off x="5215585" y="4359637"/>
            <a:ext cx="185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100" lIns="60100" spcFirstLastPara="1" rIns="60100" wrap="square" tIns="6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Prosthetic ARM</a:t>
            </a:r>
            <a:endParaRPr b="1" sz="88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79" name="Google Shape;479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41340" y="4688924"/>
            <a:ext cx="1207177" cy="1456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08500" y="1835741"/>
            <a:ext cx="2018074" cy="2510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6689" y="2983988"/>
            <a:ext cx="269097" cy="28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485148" y="1872551"/>
            <a:ext cx="1928490" cy="29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9"/>
          <p:cNvSpPr txBox="1"/>
          <p:nvPr/>
        </p:nvSpPr>
        <p:spPr>
          <a:xfrm>
            <a:off x="7520046" y="1866287"/>
            <a:ext cx="185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100" lIns="60100" spcFirstLastPara="1" rIns="60100" wrap="square" tIns="6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&amp; Sensors</a:t>
            </a:r>
            <a:endParaRPr b="1" sz="98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83" name="Google Shape;483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568256" y="2170882"/>
            <a:ext cx="1730226" cy="132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550948" y="3537998"/>
            <a:ext cx="1796890" cy="19425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9"/>
          <p:cNvSpPr txBox="1"/>
          <p:nvPr/>
        </p:nvSpPr>
        <p:spPr>
          <a:xfrm>
            <a:off x="7520056" y="3506204"/>
            <a:ext cx="2185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1">
                <a:solidFill>
                  <a:schemeClr val="accent2"/>
                </a:solidFill>
              </a:rPr>
              <a:t>🔥 Firebase · Realtime DB · Auth</a:t>
            </a:r>
            <a:endParaRPr sz="1020">
              <a:solidFill>
                <a:schemeClr val="accent2"/>
              </a:solidFill>
            </a:endParaRPr>
          </a:p>
        </p:txBody>
      </p:sp>
      <p:pic>
        <p:nvPicPr>
          <p:cNvPr id="486" name="Google Shape;486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689626" y="1828700"/>
            <a:ext cx="2014862" cy="25141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Google Shape;487;p49"/>
          <p:cNvCxnSpPr/>
          <p:nvPr/>
        </p:nvCxnSpPr>
        <p:spPr>
          <a:xfrm>
            <a:off x="9391412" y="3091234"/>
            <a:ext cx="205200" cy="0"/>
          </a:xfrm>
          <a:prstGeom prst="straightConnector1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8" name="Google Shape;488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19233" y="2941844"/>
            <a:ext cx="269097" cy="28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0149668" y="2183358"/>
            <a:ext cx="1135877" cy="1922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753354" y="1847518"/>
            <a:ext cx="1928501" cy="30797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9"/>
          <p:cNvSpPr txBox="1"/>
          <p:nvPr/>
        </p:nvSpPr>
        <p:spPr>
          <a:xfrm>
            <a:off x="9788088" y="1866275"/>
            <a:ext cx="185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100" lIns="60100" spcFirstLastPara="1" rIns="60100" wrap="square" tIns="6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APP</a:t>
            </a:r>
            <a:endParaRPr b="1" sz="98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2" name="Google Shape;492;p49"/>
          <p:cNvSpPr txBox="1"/>
          <p:nvPr/>
        </p:nvSpPr>
        <p:spPr>
          <a:xfrm>
            <a:off x="4653548" y="5265296"/>
            <a:ext cx="26943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2125" lIns="82125" spcFirstLastPara="1" rIns="82125" wrap="square" tIns="82125">
            <a:spAutoFit/>
          </a:bodyPr>
          <a:lstStyle/>
          <a:p>
            <a:pPr indent="0" lvl="0" marL="20531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9">
              <a:solidFill>
                <a:schemeClr val="dk1"/>
              </a:solidFill>
            </a:endParaRPr>
          </a:p>
        </p:txBody>
      </p:sp>
      <p:pic>
        <p:nvPicPr>
          <p:cNvPr id="493" name="Google Shape;493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81900" y="4343074"/>
            <a:ext cx="2122650" cy="58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81900" y="4937525"/>
            <a:ext cx="2122650" cy="620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49"/>
          <p:cNvCxnSpPr/>
          <p:nvPr/>
        </p:nvCxnSpPr>
        <p:spPr>
          <a:xfrm>
            <a:off x="2474929" y="3085782"/>
            <a:ext cx="205200" cy="0"/>
          </a:xfrm>
          <a:prstGeom prst="straightConnector1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6" name="Google Shape;49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8614" y="2952176"/>
            <a:ext cx="269097" cy="28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80172" y="2002691"/>
            <a:ext cx="2018614" cy="251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9"/>
          <p:cNvPicPr preferRelativeResize="0"/>
          <p:nvPr/>
        </p:nvPicPr>
        <p:blipFill rotWithShape="1">
          <a:blip r:embed="rId9">
            <a:alphaModFix/>
          </a:blip>
          <a:srcRect b="0" l="2710" r="-2710" t="0"/>
          <a:stretch/>
        </p:blipFill>
        <p:spPr>
          <a:xfrm>
            <a:off x="2874225" y="1871800"/>
            <a:ext cx="1928500" cy="2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9"/>
          <p:cNvSpPr txBox="1"/>
          <p:nvPr/>
        </p:nvSpPr>
        <p:spPr>
          <a:xfrm>
            <a:off x="2921027" y="1862080"/>
            <a:ext cx="185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100" lIns="60100" spcFirstLastPara="1" rIns="60100" wrap="square" tIns="6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EFM32GG12</a:t>
            </a:r>
            <a:endParaRPr b="1" sz="98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0" name="Google Shape;500;p49"/>
          <p:cNvSpPr txBox="1"/>
          <p:nvPr/>
        </p:nvSpPr>
        <p:spPr>
          <a:xfrm>
            <a:off x="2419816" y="2780552"/>
            <a:ext cx="1083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2125" lIns="82125" spcFirstLastPara="1" rIns="82125" wrap="square" tIns="82125">
            <a:spAutoFit/>
          </a:bodyPr>
          <a:lstStyle/>
          <a:p>
            <a:pPr indent="0" lvl="0" marL="20531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9"/>
          </a:p>
        </p:txBody>
      </p:sp>
      <p:cxnSp>
        <p:nvCxnSpPr>
          <p:cNvPr id="501" name="Google Shape;501;p49"/>
          <p:cNvCxnSpPr/>
          <p:nvPr/>
        </p:nvCxnSpPr>
        <p:spPr>
          <a:xfrm>
            <a:off x="3820104" y="4383558"/>
            <a:ext cx="0" cy="13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2" name="Google Shape;502;p49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973925" y="2127438"/>
            <a:ext cx="1698725" cy="109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49"/>
          <p:cNvCxnSpPr/>
          <p:nvPr/>
        </p:nvCxnSpPr>
        <p:spPr>
          <a:xfrm>
            <a:off x="3820100" y="5677425"/>
            <a:ext cx="112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0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10" name="Google Shape;510;p50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1" name="Google Shape;511;p50"/>
          <p:cNvSpPr txBox="1"/>
          <p:nvPr/>
        </p:nvSpPr>
        <p:spPr>
          <a:xfrm>
            <a:off x="0" y="966300"/>
            <a:ext cx="4254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i="0" sz="28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 System Diagram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i="0" sz="2000" u="none" cap="none" strike="noStrike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 white logo with a black background&#10;&#10;AI-generated content may be incorrect." id="512" name="Google Shape;5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0" title="06_interface_system_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444" y="1758156"/>
            <a:ext cx="10515598" cy="4940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1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20" name="Google Shape;520;p51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p51"/>
          <p:cNvSpPr txBox="1"/>
          <p:nvPr/>
        </p:nvSpPr>
        <p:spPr>
          <a:xfrm>
            <a:off x="-11" y="954490"/>
            <a:ext cx="35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 white logo with a black background&#10;&#10;AI-generated content may be incorrect." id="522" name="Google Shape;52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1"/>
          <p:cNvSpPr txBox="1"/>
          <p:nvPr/>
        </p:nvSpPr>
        <p:spPr>
          <a:xfrm>
            <a:off x="0" y="954500"/>
            <a:ext cx="332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System Flow</a:t>
            </a:r>
            <a:r>
              <a:rPr b="1" lang="en-US" sz="20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4" name="Google Shape;524;p51"/>
          <p:cNvSpPr txBox="1"/>
          <p:nvPr/>
        </p:nvSpPr>
        <p:spPr>
          <a:xfrm>
            <a:off x="10089250" y="58635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51" title="02_ai_system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550" y="1811750"/>
            <a:ext cx="10613289" cy="4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2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32" name="Google Shape;532;p52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533" name="Google Shape;53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2"/>
          <p:cNvSpPr txBox="1"/>
          <p:nvPr/>
        </p:nvSpPr>
        <p:spPr>
          <a:xfrm>
            <a:off x="0" y="954500"/>
            <a:ext cx="330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Prosthetics Arm Flow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35" name="Google Shape;535;p52" title="flow2_arm_robot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475" y="1811750"/>
            <a:ext cx="9326900" cy="49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3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42" name="Google Shape;542;p53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543" name="Google Shape;54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 txBox="1"/>
          <p:nvPr/>
        </p:nvSpPr>
        <p:spPr>
          <a:xfrm>
            <a:off x="0" y="960400"/>
            <a:ext cx="374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App Flow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45" name="Google Shape;545;p53" title="flow3_mobile_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3313" y="1426254"/>
            <a:ext cx="8754841" cy="54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4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52" name="Google Shape;552;p54"/>
          <p:cNvSpPr txBox="1"/>
          <p:nvPr>
            <p:ph idx="12" type="sldNum"/>
          </p:nvPr>
        </p:nvSpPr>
        <p:spPr>
          <a:xfrm>
            <a:off x="11311128" y="6419088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553" name="Google Shape;55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4"/>
          <p:cNvSpPr txBox="1"/>
          <p:nvPr/>
        </p:nvSpPr>
        <p:spPr>
          <a:xfrm>
            <a:off x="0" y="960400"/>
            <a:ext cx="374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55" name="Google Shape;55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279" y="1804425"/>
            <a:ext cx="2089571" cy="46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8750" y="1814153"/>
            <a:ext cx="2001363" cy="476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0125" y="1814150"/>
            <a:ext cx="1767896" cy="476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1900" y="1863300"/>
            <a:ext cx="3907188" cy="4628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5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65" name="Google Shape;565;p55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566" name="Google Shape;56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55"/>
          <p:cNvSpPr txBox="1"/>
          <p:nvPr/>
        </p:nvSpPr>
        <p:spPr>
          <a:xfrm>
            <a:off x="0" y="960400"/>
            <a:ext cx="3740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1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Wireless Technology: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68" name="Google Shape;568;p55" title="wireless_technolog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80825"/>
            <a:ext cx="11887199" cy="3707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75" name="Google Shape;575;p56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576" name="Google Shape;57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6"/>
          <p:cNvSpPr txBox="1"/>
          <p:nvPr/>
        </p:nvSpPr>
        <p:spPr>
          <a:xfrm>
            <a:off x="0" y="960400"/>
            <a:ext cx="39525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</a:t>
            </a:r>
            <a:r>
              <a:rPr b="1" lang="en-US" sz="1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 AI solution:</a:t>
            </a:r>
            <a:endParaRPr>
              <a:solidFill>
                <a:schemeClr val="dk1"/>
              </a:solidFill>
            </a:endParaRPr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78" name="Google Shape;578;p56" title="ai_role_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600" y="1848725"/>
            <a:ext cx="10883000" cy="44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7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585" name="Google Shape;585;p57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586" name="Google Shape;58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7"/>
          <p:cNvSpPr txBox="1"/>
          <p:nvPr/>
        </p:nvSpPr>
        <p:spPr>
          <a:xfrm>
            <a:off x="0" y="960400"/>
            <a:ext cx="39525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Diagram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</a:t>
            </a:r>
            <a:r>
              <a:rPr b="1" lang="en-US" sz="1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System</a:t>
            </a:r>
            <a:r>
              <a:rPr b="1" lang="en-US" sz="1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88" name="Google Shape;58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175" y="1704925"/>
            <a:ext cx="9704124" cy="496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8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Resource Allocation</a:t>
            </a:r>
            <a:endParaRPr/>
          </a:p>
        </p:txBody>
      </p:sp>
      <p:sp>
        <p:nvSpPr>
          <p:cNvPr id="595" name="Google Shape;595;p58"/>
          <p:cNvSpPr txBox="1"/>
          <p:nvPr>
            <p:ph idx="12" type="sldNum"/>
          </p:nvPr>
        </p:nvSpPr>
        <p:spPr>
          <a:xfrm>
            <a:off x="11311128" y="6419088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75" lIns="53975" spcFirstLastPara="1" rIns="53975" wrap="square" tIns="269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8"/>
              <a:buNone/>
            </a:pPr>
            <a:fld id="{00000000-1234-1234-1234-123412341234}" type="slidenum">
              <a:rPr lang="en-US" sz="1208"/>
              <a:t>‹#›</a:t>
            </a:fld>
            <a:endParaRPr sz="1208"/>
          </a:p>
        </p:txBody>
      </p:sp>
      <p:pic>
        <p:nvPicPr>
          <p:cNvPr descr="A white logo with a black background&#10;&#10;AI-generated content may be incorrect." id="596" name="Google Shape;59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8"/>
          <p:cNvPicPr preferRelativeResize="0"/>
          <p:nvPr/>
        </p:nvPicPr>
        <p:blipFill rotWithShape="1">
          <a:blip r:embed="rId4">
            <a:alphaModFix/>
          </a:blip>
          <a:srcRect b="2660" l="9800" r="-9800" t="-2660"/>
          <a:stretch/>
        </p:blipFill>
        <p:spPr>
          <a:xfrm>
            <a:off x="1703275" y="1826778"/>
            <a:ext cx="2172096" cy="184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8"/>
          <p:cNvSpPr txBox="1"/>
          <p:nvPr/>
        </p:nvSpPr>
        <p:spPr>
          <a:xfrm>
            <a:off x="1891125" y="3735625"/>
            <a:ext cx="1796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49125" spcFirstLastPara="1" rIns="49125" wrap="square" tIns="4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ERF32xG26 - Dev kit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599" name="Google Shape;59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6624" y="1962854"/>
            <a:ext cx="2212982" cy="172889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8"/>
          <p:cNvSpPr txBox="1"/>
          <p:nvPr/>
        </p:nvSpPr>
        <p:spPr>
          <a:xfrm>
            <a:off x="4581800" y="3735625"/>
            <a:ext cx="2025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49125" spcFirstLastPara="1" rIns="49125" wrap="square" tIns="4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ERF32xG24 - Explorer kit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01" name="Google Shape;60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0852" y="1862025"/>
            <a:ext cx="2172102" cy="2172102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58"/>
          <p:cNvSpPr txBox="1"/>
          <p:nvPr/>
        </p:nvSpPr>
        <p:spPr>
          <a:xfrm>
            <a:off x="7598847" y="3735626"/>
            <a:ext cx="1796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49125" spcFirstLastPara="1" rIns="49125" wrap="square" tIns="4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Raspberry Pi 4</a:t>
            </a:r>
            <a:endParaRPr sz="1300">
              <a:solidFill>
                <a:srgbClr val="1155CC"/>
              </a:solidFill>
            </a:endParaRPr>
          </a:p>
        </p:txBody>
      </p:sp>
      <p:sp>
        <p:nvSpPr>
          <p:cNvPr id="603" name="Google Shape;603;p58"/>
          <p:cNvSpPr txBox="1"/>
          <p:nvPr/>
        </p:nvSpPr>
        <p:spPr>
          <a:xfrm>
            <a:off x="0" y="950976"/>
            <a:ext cx="430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Allocation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Equipment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4" name="Google Shape;604;p58"/>
          <p:cNvSpPr txBox="1"/>
          <p:nvPr/>
        </p:nvSpPr>
        <p:spPr>
          <a:xfrm>
            <a:off x="2327779" y="6065640"/>
            <a:ext cx="923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6550" lIns="56550" spcFirstLastPara="1" rIns="56550" wrap="square" tIns="5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LiPo 2S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05" name="Google Shape;605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3088" y="4286348"/>
            <a:ext cx="1980052" cy="198005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8"/>
          <p:cNvSpPr txBox="1"/>
          <p:nvPr/>
        </p:nvSpPr>
        <p:spPr>
          <a:xfrm>
            <a:off x="4789249" y="6300075"/>
            <a:ext cx="1625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6550" lIns="56550" spcFirstLastPara="1" rIns="56550" wrap="square" tIns="5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MAX17048 : I2C</a:t>
            </a:r>
            <a:endParaRPr sz="1300">
              <a:solidFill>
                <a:srgbClr val="1155CC"/>
              </a:solidFill>
            </a:endParaRPr>
          </a:p>
        </p:txBody>
      </p:sp>
      <p:sp>
        <p:nvSpPr>
          <p:cNvPr id="607" name="Google Shape;607;p58"/>
          <p:cNvSpPr txBox="1"/>
          <p:nvPr/>
        </p:nvSpPr>
        <p:spPr>
          <a:xfrm>
            <a:off x="5686942" y="5718463"/>
            <a:ext cx="8742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6550" lIns="56550" spcFirstLastPara="1" rIns="56550" wrap="square" tIns="5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8" name="Google Shape;608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42894" y="4391506"/>
            <a:ext cx="1980056" cy="198006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58"/>
          <p:cNvSpPr txBox="1"/>
          <p:nvPr/>
        </p:nvSpPr>
        <p:spPr>
          <a:xfrm>
            <a:off x="7769552" y="6314925"/>
            <a:ext cx="1625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6550" lIns="56550" spcFirstLastPara="1" rIns="56550" wrap="square" tIns="5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EFM32GG12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10" name="Google Shape;610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8550" y="4601704"/>
            <a:ext cx="2121562" cy="1349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9"/>
          <p:cNvSpPr txBox="1"/>
          <p:nvPr>
            <p:ph type="title"/>
          </p:nvPr>
        </p:nvSpPr>
        <p:spPr>
          <a:xfrm>
            <a:off x="525780" y="190515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</a:t>
            </a:r>
            <a:r>
              <a:rPr lang="en-US"/>
              <a:t>esource Allocation</a:t>
            </a:r>
            <a:endParaRPr/>
          </a:p>
        </p:txBody>
      </p:sp>
      <p:sp>
        <p:nvSpPr>
          <p:cNvPr id="617" name="Google Shape;617;p59"/>
          <p:cNvSpPr txBox="1"/>
          <p:nvPr>
            <p:ph idx="12" type="sldNum"/>
          </p:nvPr>
        </p:nvSpPr>
        <p:spPr>
          <a:xfrm>
            <a:off x="11311128" y="6419088"/>
            <a:ext cx="52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25" spcFirstLastPara="1" rIns="85025" wrap="square" tIns="42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6"/>
              <a:buNone/>
            </a:pPr>
            <a:fld id="{00000000-1234-1234-1234-123412341234}" type="slidenum">
              <a:rPr lang="en-US" sz="1216"/>
              <a:t>‹#›</a:t>
            </a:fld>
            <a:endParaRPr sz="1216"/>
          </a:p>
        </p:txBody>
      </p:sp>
      <p:pic>
        <p:nvPicPr>
          <p:cNvPr descr="A white logo with a black background&#10;&#10;AI-generated content may be incorrect." id="618" name="Google Shape;61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66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6300" y="1744500"/>
            <a:ext cx="1835408" cy="192575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9"/>
          <p:cNvSpPr txBox="1"/>
          <p:nvPr/>
        </p:nvSpPr>
        <p:spPr>
          <a:xfrm>
            <a:off x="2099870" y="3655375"/>
            <a:ext cx="17376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7000" lIns="77000" spcFirstLastPara="1" rIns="77000" wrap="square" tIns="77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ADS1294 : SPI </a:t>
            </a:r>
            <a:endParaRPr sz="13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21" name="Google Shape;62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4311" y="1665811"/>
            <a:ext cx="2202493" cy="192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4517" y="1665802"/>
            <a:ext cx="1835409" cy="19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59"/>
          <p:cNvSpPr txBox="1"/>
          <p:nvPr/>
        </p:nvSpPr>
        <p:spPr>
          <a:xfrm>
            <a:off x="5173765" y="3670243"/>
            <a:ext cx="18384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77000" lIns="77000" spcFirstLastPara="1" rIns="77000" wrap="square" tIns="7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MAX300001 : SPI</a:t>
            </a:r>
            <a:endParaRPr sz="1300">
              <a:solidFill>
                <a:srgbClr val="1155CC"/>
              </a:solidFill>
            </a:endParaRPr>
          </a:p>
        </p:txBody>
      </p:sp>
      <p:sp>
        <p:nvSpPr>
          <p:cNvPr id="624" name="Google Shape;624;p59"/>
          <p:cNvSpPr txBox="1"/>
          <p:nvPr/>
        </p:nvSpPr>
        <p:spPr>
          <a:xfrm>
            <a:off x="8387431" y="3670243"/>
            <a:ext cx="18384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77000" lIns="77000" spcFirstLastPara="1" rIns="77000" wrap="square" tIns="7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MAX30102 : I2C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25" name="Google Shape;625;p59"/>
          <p:cNvPicPr preferRelativeResize="0"/>
          <p:nvPr/>
        </p:nvPicPr>
        <p:blipFill rotWithShape="1">
          <a:blip r:embed="rId7">
            <a:alphaModFix/>
          </a:blip>
          <a:srcRect b="-8320" l="0" r="0" t="8320"/>
          <a:stretch/>
        </p:blipFill>
        <p:spPr>
          <a:xfrm>
            <a:off x="1998937" y="4187221"/>
            <a:ext cx="1838358" cy="1928847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9"/>
          <p:cNvSpPr txBox="1"/>
          <p:nvPr/>
        </p:nvSpPr>
        <p:spPr>
          <a:xfrm>
            <a:off x="1917838" y="5865207"/>
            <a:ext cx="2541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Surface EMG electrodes 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27" name="Google Shape;627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73778" y="3996202"/>
            <a:ext cx="2202491" cy="1925752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9"/>
          <p:cNvSpPr txBox="1"/>
          <p:nvPr/>
        </p:nvSpPr>
        <p:spPr>
          <a:xfrm>
            <a:off x="5260264" y="5919793"/>
            <a:ext cx="2029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Servo MG996R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29" name="Google Shape;629;p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7722926" y="4050408"/>
            <a:ext cx="2310905" cy="2202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9"/>
          <p:cNvSpPr txBox="1"/>
          <p:nvPr/>
        </p:nvSpPr>
        <p:spPr>
          <a:xfrm>
            <a:off x="8433037" y="5865204"/>
            <a:ext cx="17472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PCA 9685 : I2C</a:t>
            </a:r>
            <a:endParaRPr sz="1300">
              <a:solidFill>
                <a:srgbClr val="1155CC"/>
              </a:solidFill>
            </a:endParaRPr>
          </a:p>
        </p:txBody>
      </p:sp>
      <p:sp>
        <p:nvSpPr>
          <p:cNvPr id="631" name="Google Shape;631;p59"/>
          <p:cNvSpPr txBox="1"/>
          <p:nvPr/>
        </p:nvSpPr>
        <p:spPr>
          <a:xfrm>
            <a:off x="0" y="950976"/>
            <a:ext cx="375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Allocation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Equipment 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0"/>
          <p:cNvSpPr txBox="1"/>
          <p:nvPr>
            <p:ph type="title"/>
          </p:nvPr>
        </p:nvSpPr>
        <p:spPr>
          <a:xfrm>
            <a:off x="541655" y="206402"/>
            <a:ext cx="10515600" cy="71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</a:t>
            </a:r>
            <a:endParaRPr/>
          </a:p>
        </p:txBody>
      </p:sp>
      <p:pic>
        <p:nvPicPr>
          <p:cNvPr id="638" name="Google Shape;63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325" y="1988575"/>
            <a:ext cx="1851104" cy="1851104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0"/>
          <p:cNvSpPr txBox="1"/>
          <p:nvPr/>
        </p:nvSpPr>
        <p:spPr>
          <a:xfrm>
            <a:off x="2201540" y="3870531"/>
            <a:ext cx="9126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74025" spcFirstLastPara="1" rIns="74025" wrap="square" tIns="7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FSR402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40" name="Google Shape;64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574" y="1988575"/>
            <a:ext cx="1851104" cy="1851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4670" y="1988575"/>
            <a:ext cx="1851104" cy="1851104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0"/>
          <p:cNvSpPr txBox="1"/>
          <p:nvPr/>
        </p:nvSpPr>
        <p:spPr>
          <a:xfrm>
            <a:off x="4767666" y="3901383"/>
            <a:ext cx="2363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74025" spcFirstLastPara="1" rIns="74025" wrap="square" tIns="7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DRV2065L module : I2C</a:t>
            </a:r>
            <a:endParaRPr sz="1300">
              <a:solidFill>
                <a:srgbClr val="1155CC"/>
              </a:solidFill>
            </a:endParaRPr>
          </a:p>
        </p:txBody>
      </p:sp>
      <p:sp>
        <p:nvSpPr>
          <p:cNvPr id="643" name="Google Shape;643;p60"/>
          <p:cNvSpPr txBox="1"/>
          <p:nvPr/>
        </p:nvSpPr>
        <p:spPr>
          <a:xfrm>
            <a:off x="8193024" y="3901383"/>
            <a:ext cx="25788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74025" spcFirstLastPara="1" rIns="74025" wrap="square" tIns="7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LRA/</a:t>
            </a:r>
            <a:r>
              <a:rPr lang="en-US" sz="1300">
                <a:solidFill>
                  <a:srgbClr val="1155CC"/>
                </a:solidFill>
              </a:rPr>
              <a:t>ERM vibration motor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44" name="Google Shape;64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2325" y="4235651"/>
            <a:ext cx="1851104" cy="1851104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60"/>
          <p:cNvSpPr txBox="1"/>
          <p:nvPr/>
        </p:nvSpPr>
        <p:spPr>
          <a:xfrm>
            <a:off x="1732406" y="6055905"/>
            <a:ext cx="2108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74025" spcFirstLastPara="1" rIns="74025" wrap="square" tIns="7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Quectel L76K : UART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46" name="Google Shape;646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6354" y="4204801"/>
            <a:ext cx="1851102" cy="18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0"/>
          <p:cNvSpPr txBox="1"/>
          <p:nvPr/>
        </p:nvSpPr>
        <p:spPr>
          <a:xfrm>
            <a:off x="5470618" y="6055905"/>
            <a:ext cx="13626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74025" spcFirstLastPara="1" rIns="74025" wrap="square" tIns="7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PAM8302A</a:t>
            </a:r>
            <a:endParaRPr sz="1300">
              <a:solidFill>
                <a:srgbClr val="1155CC"/>
              </a:solidFill>
            </a:endParaRPr>
          </a:p>
        </p:txBody>
      </p:sp>
      <p:pic>
        <p:nvPicPr>
          <p:cNvPr id="648" name="Google Shape;648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44670" y="4297356"/>
            <a:ext cx="1851104" cy="1851104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0"/>
          <p:cNvSpPr txBox="1"/>
          <p:nvPr/>
        </p:nvSpPr>
        <p:spPr>
          <a:xfrm>
            <a:off x="8833104" y="6072667"/>
            <a:ext cx="14139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025" lIns="74025" spcFirstLastPara="1" rIns="74025" wrap="square" tIns="7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155CC"/>
                </a:solidFill>
              </a:rPr>
              <a:t>Speaker</a:t>
            </a:r>
            <a:endParaRPr sz="1300">
              <a:solidFill>
                <a:srgbClr val="1155CC"/>
              </a:solidFill>
            </a:endParaRPr>
          </a:p>
        </p:txBody>
      </p:sp>
      <p:sp>
        <p:nvSpPr>
          <p:cNvPr id="650" name="Google Shape;650;p60"/>
          <p:cNvSpPr txBox="1"/>
          <p:nvPr/>
        </p:nvSpPr>
        <p:spPr>
          <a:xfrm>
            <a:off x="0" y="950975"/>
            <a:ext cx="469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Allocation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Equipment 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1" name="Google Shape;651;p60"/>
          <p:cNvSpPr txBox="1"/>
          <p:nvPr>
            <p:ph idx="12" type="sldNum"/>
          </p:nvPr>
        </p:nvSpPr>
        <p:spPr>
          <a:xfrm>
            <a:off x="11041378" y="6184832"/>
            <a:ext cx="576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225" lIns="88475" spcFirstLastPara="1" rIns="88475" wrap="square" tIns="44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1"/>
              <a:buNone/>
            </a:pPr>
            <a:fld id="{00000000-1234-1234-1234-123412341234}" type="slidenum">
              <a:rPr lang="en-US" sz="1161"/>
              <a:t>‹#›</a:t>
            </a:fld>
            <a:endParaRPr sz="116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1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Resource Allocation</a:t>
            </a:r>
            <a:endParaRPr/>
          </a:p>
        </p:txBody>
      </p:sp>
      <p:sp>
        <p:nvSpPr>
          <p:cNvPr id="658" name="Google Shape;658;p61"/>
          <p:cNvSpPr txBox="1"/>
          <p:nvPr>
            <p:ph idx="12" type="sldNum"/>
          </p:nvPr>
        </p:nvSpPr>
        <p:spPr>
          <a:xfrm>
            <a:off x="11311128" y="6419088"/>
            <a:ext cx="576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225" lIns="88475" spcFirstLastPara="1" rIns="88475" wrap="square" tIns="44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1"/>
              <a:buNone/>
            </a:pPr>
            <a:fld id="{00000000-1234-1234-1234-123412341234}" type="slidenum">
              <a:rPr lang="en-US" sz="1161"/>
              <a:t>‹#›</a:t>
            </a:fld>
            <a:endParaRPr sz="1161"/>
          </a:p>
        </p:txBody>
      </p:sp>
      <p:pic>
        <p:nvPicPr>
          <p:cNvPr descr="A white logo with a black background&#10;&#10;AI-generated content may be incorrect." id="659" name="Google Shape;65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0600" y="4223188"/>
            <a:ext cx="1769808" cy="176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3236" y="4223188"/>
            <a:ext cx="1769807" cy="176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61"/>
          <p:cNvPicPr preferRelativeResize="0"/>
          <p:nvPr/>
        </p:nvPicPr>
        <p:blipFill rotWithShape="1">
          <a:blip r:embed="rId6">
            <a:alphaModFix/>
          </a:blip>
          <a:srcRect b="-14443" l="0" r="67048" t="0"/>
          <a:stretch/>
        </p:blipFill>
        <p:spPr>
          <a:xfrm>
            <a:off x="6549591" y="1662810"/>
            <a:ext cx="1769808" cy="1769812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1"/>
          <p:cNvSpPr txBox="1"/>
          <p:nvPr/>
        </p:nvSpPr>
        <p:spPr>
          <a:xfrm>
            <a:off x="1560563" y="6133525"/>
            <a:ext cx="1828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MATLAB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64" name="Google Shape;664;p61"/>
          <p:cNvSpPr txBox="1"/>
          <p:nvPr/>
        </p:nvSpPr>
        <p:spPr>
          <a:xfrm>
            <a:off x="5187288" y="6082225"/>
            <a:ext cx="1241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GitHub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65" name="Google Shape;665;p61"/>
          <p:cNvSpPr txBox="1"/>
          <p:nvPr/>
        </p:nvSpPr>
        <p:spPr>
          <a:xfrm>
            <a:off x="8950588" y="6082230"/>
            <a:ext cx="1241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Figma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66" name="Google Shape;666;p61"/>
          <p:cNvSpPr txBox="1"/>
          <p:nvPr/>
        </p:nvSpPr>
        <p:spPr>
          <a:xfrm>
            <a:off x="3334120" y="3545335"/>
            <a:ext cx="15093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475" lIns="88475" spcFirstLastPara="1" rIns="88475" wrap="square" tIns="8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8">
                <a:solidFill>
                  <a:schemeClr val="dk1"/>
                </a:solidFill>
              </a:rPr>
              <a:t>Python</a:t>
            </a:r>
            <a:endParaRPr sz="1258">
              <a:solidFill>
                <a:schemeClr val="dk1"/>
              </a:solidFill>
            </a:endParaRPr>
          </a:p>
        </p:txBody>
      </p:sp>
      <p:sp>
        <p:nvSpPr>
          <p:cNvPr id="667" name="Google Shape;667;p61"/>
          <p:cNvSpPr txBox="1"/>
          <p:nvPr/>
        </p:nvSpPr>
        <p:spPr>
          <a:xfrm>
            <a:off x="6659503" y="3499902"/>
            <a:ext cx="1769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475" lIns="88475" spcFirstLastPara="1" rIns="88475" wrap="square" tIns="8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8">
                <a:solidFill>
                  <a:schemeClr val="dk1"/>
                </a:solidFill>
              </a:rPr>
              <a:t>Simplicity</a:t>
            </a:r>
            <a:r>
              <a:rPr lang="en-US" sz="1258">
                <a:solidFill>
                  <a:schemeClr val="dk1"/>
                </a:solidFill>
              </a:rPr>
              <a:t> Studio</a:t>
            </a:r>
            <a:endParaRPr sz="1258">
              <a:solidFill>
                <a:schemeClr val="dk1"/>
              </a:solidFill>
            </a:endParaRPr>
          </a:p>
        </p:txBody>
      </p:sp>
      <p:pic>
        <p:nvPicPr>
          <p:cNvPr id="668" name="Google Shape;66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69041" y="4223188"/>
            <a:ext cx="1769809" cy="176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6955" y="1662810"/>
            <a:ext cx="1769808" cy="1769808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1"/>
          <p:cNvSpPr txBox="1"/>
          <p:nvPr/>
        </p:nvSpPr>
        <p:spPr>
          <a:xfrm>
            <a:off x="0" y="950976"/>
            <a:ext cx="37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Allocation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2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Resource Allocation</a:t>
            </a:r>
            <a:endParaRPr/>
          </a:p>
        </p:txBody>
      </p:sp>
      <p:sp>
        <p:nvSpPr>
          <p:cNvPr id="677" name="Google Shape;677;p62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678" name="Google Shape;67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1468" y="405988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62"/>
          <p:cNvPicPr preferRelativeResize="0"/>
          <p:nvPr/>
        </p:nvPicPr>
        <p:blipFill rotWithShape="1">
          <a:blip r:embed="rId5">
            <a:alphaModFix/>
          </a:blip>
          <a:srcRect b="17945" l="0" r="-523" t="0"/>
          <a:stretch/>
        </p:blipFill>
        <p:spPr>
          <a:xfrm>
            <a:off x="3307082" y="174353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2660" y="405988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6188" y="405988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6123" y="174353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2"/>
          <p:cNvSpPr txBox="1"/>
          <p:nvPr/>
        </p:nvSpPr>
        <p:spPr>
          <a:xfrm>
            <a:off x="1775788" y="6062421"/>
            <a:ext cx="1617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Flutter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85" name="Google Shape;685;p62"/>
          <p:cNvSpPr txBox="1"/>
          <p:nvPr/>
        </p:nvSpPr>
        <p:spPr>
          <a:xfrm>
            <a:off x="4976188" y="6062421"/>
            <a:ext cx="18288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Google scholar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86" name="Google Shape;686;p62"/>
          <p:cNvSpPr txBox="1"/>
          <p:nvPr/>
        </p:nvSpPr>
        <p:spPr>
          <a:xfrm>
            <a:off x="8973563" y="6062421"/>
            <a:ext cx="1617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Firebase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3416811" y="3727778"/>
            <a:ext cx="1617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Adruino IDE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88" name="Google Shape;688;p62"/>
          <p:cNvSpPr txBox="1"/>
          <p:nvPr/>
        </p:nvSpPr>
        <p:spPr>
          <a:xfrm>
            <a:off x="7371838" y="3727778"/>
            <a:ext cx="1266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VS Code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89" name="Google Shape;689;p62"/>
          <p:cNvSpPr txBox="1"/>
          <p:nvPr/>
        </p:nvSpPr>
        <p:spPr>
          <a:xfrm>
            <a:off x="0" y="950976"/>
            <a:ext cx="411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Allocation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3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696" name="Google Shape;696;p63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7" name="Google Shape;697;p63"/>
          <p:cNvSpPr txBox="1"/>
          <p:nvPr/>
        </p:nvSpPr>
        <p:spPr>
          <a:xfrm>
            <a:off x="0" y="724276"/>
            <a:ext cx="24048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logo with a black background&#10;&#10;AI-generated content may be incorrect." id="698" name="Google Shape;69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008" y="987552"/>
            <a:ext cx="7077455" cy="5547749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3"/>
          <p:cNvSpPr txBox="1"/>
          <p:nvPr/>
        </p:nvSpPr>
        <p:spPr>
          <a:xfrm>
            <a:off x="0" y="950976"/>
            <a:ext cx="390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Milestones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Goals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4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707" name="Google Shape;707;p64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708" name="Google Shape;7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64"/>
          <p:cNvSpPr txBox="1"/>
          <p:nvPr/>
        </p:nvSpPr>
        <p:spPr>
          <a:xfrm>
            <a:off x="0" y="950976"/>
            <a:ext cx="358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Milestones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Timeline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10" name="Google Shape;71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0075" y="1619683"/>
            <a:ext cx="8304900" cy="4905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Resource Allocation</a:t>
            </a:r>
            <a:endParaRPr/>
          </a:p>
        </p:txBody>
      </p:sp>
      <p:sp>
        <p:nvSpPr>
          <p:cNvPr id="717" name="Google Shape;717;p65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logo with a black background&#10;&#10;AI-generated content may be incorrect." id="718" name="Google Shape;71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9" name="Google Shape;719;p65"/>
          <p:cNvGraphicFramePr/>
          <p:nvPr/>
        </p:nvGraphicFramePr>
        <p:xfrm>
          <a:off x="699825" y="206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{621E54FA-A227-45DD-9998-35C40ED86CE9}</a:tableStyleId>
              </a:tblPr>
              <a:tblGrid>
                <a:gridCol w="5396175"/>
                <a:gridCol w="5396175"/>
              </a:tblGrid>
              <a:tr h="7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Tran Minh Triet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Backend &amp; System Architect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Nguyen Tan Hieu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Data Analytics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Nguyen Minh Quan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Hardware &amp; Firmware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Hoang Ba Duy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AI Engineer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Nguyen Duc Trung Kien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Mobile App Developer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0" name="Google Shape;720;p65"/>
          <p:cNvSpPr txBox="1"/>
          <p:nvPr/>
        </p:nvSpPr>
        <p:spPr>
          <a:xfrm>
            <a:off x="0" y="950976"/>
            <a:ext cx="430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Allocation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</a:t>
            </a: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 Resources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6"/>
          <p:cNvSpPr txBox="1"/>
          <p:nvPr/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</a:rPr>
              <a:t>Risk Management</a:t>
            </a:r>
            <a:endParaRPr b="1" sz="2800">
              <a:solidFill>
                <a:srgbClr val="FFFFFF"/>
              </a:solidFill>
            </a:endParaRPr>
          </a:p>
        </p:txBody>
      </p:sp>
      <p:graphicFrame>
        <p:nvGraphicFramePr>
          <p:cNvPr id="727" name="Google Shape;727;p66"/>
          <p:cNvGraphicFramePr/>
          <p:nvPr/>
        </p:nvGraphicFramePr>
        <p:xfrm>
          <a:off x="0" y="9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{621E54FA-A227-45DD-9998-35C40ED86CE9}</a:tableStyleId>
              </a:tblPr>
              <a:tblGrid>
                <a:gridCol w="3215875"/>
                <a:gridCol w="4559825"/>
                <a:gridCol w="4416300"/>
              </a:tblGrid>
              <a:tr h="39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Task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Forecast Risk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Action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190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Requirements Analysis 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•Ambiguous project scope leading to feature creep and missed deadlines.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Underestimating hardware limitations.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Misalignment between technical design and actual user/patient needs.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Define a strict Minimum Viable Product (MVP) and freeze core requirements early.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Conduct early feasibility studies and memory profiling on the selected MCU.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Consult with domain experts or target users to validate functionality expectations.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</a:tr>
              <a:tr h="142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Hardware Preparation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Component unavailability or hardware incompatibility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High vulnerability of micro-volt EMG signals to digital crosstalk.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Stockpile critical spare modules early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Implement optocouplers for analog/digital power isolation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Utiliz</a:t>
                      </a:r>
                      <a:r>
                        <a:rPr lang="en-US"/>
                        <a:t>e</a:t>
                      </a:r>
                      <a:r>
                        <a:rPr lang="en-US"/>
                        <a:t> coaxial shielding for all sensor wiring.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1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Collection &amp; AI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Flawed datasets leading to poor AI accuracy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Feature confusion due to a monolithic model architecture.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MCU memory overflow from unoptimized algorithms.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Enforce strict data validation protocols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Adopt a Late Fusion architecture with spe</a:t>
                      </a:r>
                      <a:r>
                        <a:rPr lang="en-US"/>
                        <a:t>c</a:t>
                      </a:r>
                      <a:r>
                        <a:rPr lang="en-US"/>
                        <a:t>ialized micro-models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Apply Int8 Quantization to drastically reduce the model footprint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7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Risk Management</a:t>
            </a:r>
            <a:endParaRPr/>
          </a:p>
        </p:txBody>
      </p:sp>
      <p:graphicFrame>
        <p:nvGraphicFramePr>
          <p:cNvPr id="734" name="Google Shape;734;p67"/>
          <p:cNvGraphicFramePr/>
          <p:nvPr/>
        </p:nvGraphicFramePr>
        <p:xfrm>
          <a:off x="0" y="79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{621E54FA-A227-45DD-9998-35C40ED86CE9}</a:tableStyleId>
              </a:tblPr>
              <a:tblGrid>
                <a:gridCol w="3202850"/>
                <a:gridCol w="4572850"/>
                <a:gridCol w="4416300"/>
              </a:tblGrid>
              <a:tr h="36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Task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Forecast Risk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Action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156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System Integration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Software-hardware API mismatches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Thermal hazards (&gt;41°C) from sustained AI computations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RTOS context-switching overhead causing unacceptable latency.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Build modular, independently verifiable blocks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Implement emergency thermal cut-offs (Failsafe mode)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Deploy asymmetric multiprocessing on Dual-Core MCUs (dedicating Core 1 entirely to AI).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</a:tr>
              <a:tr h="193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Assembly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Mechanical instability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Heat entrapment within the 3D-printed enclo</a:t>
                      </a:r>
                      <a:r>
                        <a:rPr lang="en-US"/>
                        <a:t>s</a:t>
                      </a:r>
                      <a:r>
                        <a:rPr lang="en-US"/>
                        <a:t>ure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</a:t>
                      </a:r>
                      <a:r>
                        <a:rPr lang="en-US"/>
                        <a:t>Sweat-induced electrical shorts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Signal degradation due to high skin resistance in open-fit designs.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Reinforce structures using advanced CAD libraries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Integrate breathable waterproof ePTFE membranes for thermal venting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Isolate EMG sensors using embossed Silicone O-rings 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7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Edge AI &amp; Model Deployment 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• Accuracy degradation across diverse muscle profiles.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/>
                      </a:br>
                      <a:r>
                        <a:rPr lang="en-US">
                          <a:solidFill>
                            <a:schemeClr val="dk1"/>
                          </a:solidFill>
                        </a:rPr>
                        <a:t>• Quantization-induced precision loss below 90% threshold.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Flash memory constraints on EFR32xG24 (1.5MB). </a:t>
                      </a:r>
                      <a:br>
                        <a:rPr lang="en-US"/>
                      </a:br>
                      <a:br>
                        <a:rPr lang="en-US"/>
                      </a:b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• User-specific fine-tuning during onboarding. 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Validate INT8 quantized model against FP32 baseline prior to deployment.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Apply model pruning and weight compression to meet flash memory constraints.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8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Risk Management</a:t>
            </a:r>
            <a:endParaRPr/>
          </a:p>
        </p:txBody>
      </p:sp>
      <p:graphicFrame>
        <p:nvGraphicFramePr>
          <p:cNvPr id="741" name="Google Shape;741;p68"/>
          <p:cNvGraphicFramePr/>
          <p:nvPr/>
        </p:nvGraphicFramePr>
        <p:xfrm>
          <a:off x="0" y="95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{621E54FA-A227-45DD-9998-35C40ED86CE9}</a:tableStyleId>
              </a:tblPr>
              <a:tblGrid>
                <a:gridCol w="3189800"/>
                <a:gridCol w="4598950"/>
                <a:gridCol w="4403250"/>
              </a:tblGrid>
              <a:tr h="4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Task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Forecast Risk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Action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90BBE3"/>
                        </a:gs>
                        <a:gs pos="100000">
                          <a:srgbClr val="397BB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602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Mobile </a:t>
                      </a:r>
                      <a:r>
                        <a:rPr lang="en-US"/>
                        <a:t>App Development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Lack of domain expertise leading to a highly unpolished, counterintuitive user interface.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Unpredictable cross-version compatibility failures across different Android devices (OS Fragmentation).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Platform limitation: Currently restricted to Android, lacking an iOS version.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Utilize standardized UI component libraries (e.g., Material 3) to bypass design inexperience.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• Implement cloud device-farm testing (e.g., Firebase Test Lab) to ensure stability across diverse Android API levels.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• Adopt cross-platform frameworks (e.g., Flutter, React Native) to single-source both Android and iOS codebases.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</a:tr>
              <a:tr h="287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Testing &amp; Delivery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Unforeseen hardware-software integration bugs during the final deployment phase.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System failure or signal degradation in real-world environments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Hardware damage or malfunction during the final pitch/demonstration.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Enforce continuous integration and a strict "code/hardware freeze" at least 2 weeks before the deadline.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Conduct aggressive real-world field testing in diverse conditions (varying EM noise, temperatures).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• Prepare a fully assembled, pre-calibrated backup prototype for the final presentation.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9"/>
          <p:cNvSpPr txBox="1"/>
          <p:nvPr>
            <p:ph type="title"/>
          </p:nvPr>
        </p:nvSpPr>
        <p:spPr>
          <a:xfrm>
            <a:off x="525780" y="21007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Work process</a:t>
            </a:r>
            <a:endParaRPr/>
          </a:p>
        </p:txBody>
      </p:sp>
      <p:pic>
        <p:nvPicPr>
          <p:cNvPr descr="A white logo with a black background&#10;&#10;AI-generated content may be incorrect." id="748" name="Google Shape;74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30332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9"/>
          <p:cNvSpPr/>
          <p:nvPr/>
        </p:nvSpPr>
        <p:spPr>
          <a:xfrm>
            <a:off x="371401" y="1965071"/>
            <a:ext cx="2270400" cy="42873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7096" rotWithShape="0" algn="bl" dir="8100000" dist="16774">
              <a:srgbClr val="000000">
                <a:alpha val="7060"/>
              </a:srgbClr>
            </a:outerShdw>
          </a:effectLst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9"/>
          <p:cNvSpPr/>
          <p:nvPr/>
        </p:nvSpPr>
        <p:spPr>
          <a:xfrm>
            <a:off x="371401" y="1965071"/>
            <a:ext cx="2270400" cy="1268100"/>
          </a:xfrm>
          <a:prstGeom prst="rect">
            <a:avLst/>
          </a:prstGeom>
          <a:solidFill>
            <a:srgbClr val="1E3A7B"/>
          </a:solidFill>
          <a:ln cap="flat" cmpd="sng" w="1680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9"/>
          <p:cNvSpPr/>
          <p:nvPr/>
        </p:nvSpPr>
        <p:spPr>
          <a:xfrm>
            <a:off x="492080" y="2309225"/>
            <a:ext cx="2149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Meetings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52" name="Google Shape;752;p69"/>
          <p:cNvCxnSpPr/>
          <p:nvPr/>
        </p:nvCxnSpPr>
        <p:spPr>
          <a:xfrm>
            <a:off x="492175" y="3897446"/>
            <a:ext cx="2029200" cy="0"/>
          </a:xfrm>
          <a:prstGeom prst="straightConnector1">
            <a:avLst/>
          </a:prstGeom>
          <a:noFill/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3" name="Google Shape;753;p69"/>
          <p:cNvSpPr/>
          <p:nvPr/>
        </p:nvSpPr>
        <p:spPr>
          <a:xfrm>
            <a:off x="492175" y="3329811"/>
            <a:ext cx="20292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times/week. Ad-hoc for issues or member suggestions.</a:t>
            </a:r>
            <a:endParaRPr b="1" i="0" sz="1123" u="none" cap="none" strike="noStrike">
              <a:solidFill>
                <a:srgbClr val="1155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Tool: </a:t>
            </a:r>
            <a:r>
              <a:rPr b="1" lang="en-US" sz="1123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</a:t>
            </a:r>
            <a:endParaRPr b="1" i="0" sz="1123" u="none" cap="none" strike="noStrike">
              <a:solidFill>
                <a:srgbClr val="1155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4" name="Google Shape;754;p69"/>
          <p:cNvSpPr/>
          <p:nvPr/>
        </p:nvSpPr>
        <p:spPr>
          <a:xfrm>
            <a:off x="492175" y="4501313"/>
            <a:ext cx="20292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 offline (hardware) and online for planning and reviews.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5" name="Google Shape;755;p69"/>
          <p:cNvSpPr/>
          <p:nvPr/>
        </p:nvSpPr>
        <p:spPr>
          <a:xfrm>
            <a:off x="2666101" y="1965071"/>
            <a:ext cx="2270400" cy="42873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7096" rotWithShape="0" algn="bl" dir="8100000" dist="16774">
              <a:srgbClr val="000000">
                <a:alpha val="7060"/>
              </a:srgbClr>
            </a:outerShdw>
          </a:effectLst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9"/>
          <p:cNvSpPr/>
          <p:nvPr/>
        </p:nvSpPr>
        <p:spPr>
          <a:xfrm>
            <a:off x="2666101" y="1965071"/>
            <a:ext cx="2270400" cy="1268100"/>
          </a:xfrm>
          <a:prstGeom prst="rect">
            <a:avLst/>
          </a:prstGeom>
          <a:solidFill>
            <a:srgbClr val="1E3A7B"/>
          </a:solidFill>
          <a:ln cap="flat" cmpd="sng" w="1680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4"/>
          </a:p>
        </p:txBody>
      </p:sp>
      <p:sp>
        <p:nvSpPr>
          <p:cNvPr id="757" name="Google Shape;757;p69"/>
          <p:cNvSpPr/>
          <p:nvPr/>
        </p:nvSpPr>
        <p:spPr>
          <a:xfrm>
            <a:off x="2726447" y="2309225"/>
            <a:ext cx="2149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 &amp; Progress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Management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58" name="Google Shape;758;p69"/>
          <p:cNvCxnSpPr/>
          <p:nvPr/>
        </p:nvCxnSpPr>
        <p:spPr>
          <a:xfrm>
            <a:off x="2786874" y="3897446"/>
            <a:ext cx="2029200" cy="0"/>
          </a:xfrm>
          <a:prstGeom prst="straightConnector1">
            <a:avLst/>
          </a:prstGeom>
          <a:noFill/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9" name="Google Shape;759;p69"/>
          <p:cNvSpPr/>
          <p:nvPr/>
        </p:nvSpPr>
        <p:spPr>
          <a:xfrm>
            <a:off x="2786874" y="3329811"/>
            <a:ext cx="20292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23"/>
              <a:buFont typeface="Calibri"/>
              <a:buNone/>
            </a:pPr>
            <a:r>
              <a:rPr b="1" lang="en-US" sz="1123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task descriptions, accurate time estimates, and daily status updates.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0" name="Google Shape;760;p69"/>
          <p:cNvSpPr/>
          <p:nvPr/>
        </p:nvSpPr>
        <p:spPr>
          <a:xfrm>
            <a:off x="2786874" y="4501313"/>
            <a:ext cx="20292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Follow Agile Scrum: break milestones into tasks with deadlines.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1" name="Google Shape;761;p69"/>
          <p:cNvSpPr/>
          <p:nvPr/>
        </p:nvSpPr>
        <p:spPr>
          <a:xfrm>
            <a:off x="4960800" y="1965071"/>
            <a:ext cx="2270400" cy="42873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7096" rotWithShape="0" algn="bl" dir="8100000" dist="16774">
              <a:srgbClr val="000000">
                <a:alpha val="7060"/>
              </a:srgbClr>
            </a:outerShdw>
          </a:effectLst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9"/>
          <p:cNvSpPr/>
          <p:nvPr/>
        </p:nvSpPr>
        <p:spPr>
          <a:xfrm>
            <a:off x="4960800" y="1965071"/>
            <a:ext cx="2270400" cy="1268100"/>
          </a:xfrm>
          <a:prstGeom prst="rect">
            <a:avLst/>
          </a:prstGeom>
          <a:solidFill>
            <a:srgbClr val="1E3A7B"/>
          </a:solidFill>
          <a:ln cap="flat" cmpd="sng" w="1680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9"/>
          <p:cNvSpPr/>
          <p:nvPr/>
        </p:nvSpPr>
        <p:spPr>
          <a:xfrm>
            <a:off x="5021147" y="2309225"/>
            <a:ext cx="2149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Code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Management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64" name="Google Shape;764;p69"/>
          <p:cNvCxnSpPr/>
          <p:nvPr/>
        </p:nvCxnSpPr>
        <p:spPr>
          <a:xfrm>
            <a:off x="5081574" y="3897446"/>
            <a:ext cx="2029200" cy="0"/>
          </a:xfrm>
          <a:prstGeom prst="straightConnector1">
            <a:avLst/>
          </a:prstGeom>
          <a:noFill/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5" name="Google Shape;765;p69"/>
          <p:cNvSpPr/>
          <p:nvPr/>
        </p:nvSpPr>
        <p:spPr>
          <a:xfrm>
            <a:off x="5081574" y="3329811"/>
            <a:ext cx="20292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 (required) and GitHub/GitLab for centralized code storage.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6" name="Google Shape;766;p69"/>
          <p:cNvSpPr/>
          <p:nvPr/>
        </p:nvSpPr>
        <p:spPr>
          <a:xfrm>
            <a:off x="5081574" y="4501313"/>
            <a:ext cx="20292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task has its own branch. Clear commits &amp; review before merging.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7" name="Google Shape;767;p69"/>
          <p:cNvSpPr/>
          <p:nvPr/>
        </p:nvSpPr>
        <p:spPr>
          <a:xfrm>
            <a:off x="7255500" y="1965071"/>
            <a:ext cx="2270400" cy="42873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7096" rotWithShape="0" algn="bl" dir="8100000" dist="16774">
              <a:srgbClr val="000000">
                <a:alpha val="7060"/>
              </a:srgbClr>
            </a:outerShdw>
          </a:effectLst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9"/>
          <p:cNvSpPr/>
          <p:nvPr/>
        </p:nvSpPr>
        <p:spPr>
          <a:xfrm>
            <a:off x="7255500" y="1965071"/>
            <a:ext cx="2270400" cy="1268100"/>
          </a:xfrm>
          <a:prstGeom prst="rect">
            <a:avLst/>
          </a:prstGeom>
          <a:solidFill>
            <a:srgbClr val="1E3A7B"/>
          </a:solidFill>
          <a:ln cap="flat" cmpd="sng" w="1680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9"/>
          <p:cNvSpPr/>
          <p:nvPr/>
        </p:nvSpPr>
        <p:spPr>
          <a:xfrm>
            <a:off x="7315833" y="2309225"/>
            <a:ext cx="2149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Daily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Communication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70" name="Google Shape;770;p69"/>
          <p:cNvCxnSpPr/>
          <p:nvPr/>
        </p:nvCxnSpPr>
        <p:spPr>
          <a:xfrm>
            <a:off x="7376274" y="3897446"/>
            <a:ext cx="2029200" cy="0"/>
          </a:xfrm>
          <a:prstGeom prst="straightConnector1">
            <a:avLst/>
          </a:prstGeom>
          <a:noFill/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1" name="Google Shape;771;p69"/>
          <p:cNvSpPr/>
          <p:nvPr/>
        </p:nvSpPr>
        <p:spPr>
          <a:xfrm>
            <a:off x="7436486" y="3323811"/>
            <a:ext cx="20292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Zalo group chat for quick communication, document sharing &amp; announcements.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2" name="Google Shape;772;p69"/>
          <p:cNvSpPr/>
          <p:nvPr/>
        </p:nvSpPr>
        <p:spPr>
          <a:xfrm>
            <a:off x="7376274" y="4501313"/>
            <a:ext cx="20292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Quick feedback during work hours, focused on tasks.</a:t>
            </a:r>
            <a:endParaRPr b="1" sz="1123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23"/>
              <a:buFont typeface="Calibri"/>
              <a:buNone/>
            </a:pPr>
            <a:r>
              <a:t/>
            </a:r>
            <a:endParaRPr b="1" sz="1123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9"/>
          <p:cNvSpPr/>
          <p:nvPr/>
        </p:nvSpPr>
        <p:spPr>
          <a:xfrm>
            <a:off x="9550200" y="1965071"/>
            <a:ext cx="2270400" cy="4287300"/>
          </a:xfrm>
          <a:prstGeom prst="rect">
            <a:avLst/>
          </a:prstGeom>
          <a:solidFill>
            <a:srgbClr val="FFFFFF"/>
          </a:solidFill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7096" rotWithShape="0" algn="bl" dir="8100000" dist="16774">
              <a:srgbClr val="000000">
                <a:alpha val="7060"/>
              </a:srgbClr>
            </a:outerShdw>
          </a:effectLst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9"/>
          <p:cNvSpPr/>
          <p:nvPr/>
        </p:nvSpPr>
        <p:spPr>
          <a:xfrm>
            <a:off x="9550200" y="1965071"/>
            <a:ext cx="2270400" cy="1268100"/>
          </a:xfrm>
          <a:prstGeom prst="rect">
            <a:avLst/>
          </a:prstGeom>
          <a:solidFill>
            <a:srgbClr val="1E3A7B"/>
          </a:solidFill>
          <a:ln cap="flat" cmpd="sng" w="1680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750" lIns="120750" spcFirstLastPara="1" rIns="120750" wrap="square" tIns="12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9"/>
          <p:cNvSpPr/>
          <p:nvPr/>
        </p:nvSpPr>
        <p:spPr>
          <a:xfrm>
            <a:off x="9550188" y="2309225"/>
            <a:ext cx="2149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1"/>
              <a:buFont typeface="Calibri"/>
              <a:buNone/>
            </a:pPr>
            <a:r>
              <a:rPr b="1" i="0" lang="en-US" sz="182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Storage</a:t>
            </a:r>
            <a:endParaRPr i="0" sz="1821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76" name="Google Shape;776;p69"/>
          <p:cNvCxnSpPr/>
          <p:nvPr/>
        </p:nvCxnSpPr>
        <p:spPr>
          <a:xfrm>
            <a:off x="9670973" y="3897446"/>
            <a:ext cx="2029200" cy="0"/>
          </a:xfrm>
          <a:prstGeom prst="straightConnector1">
            <a:avLst/>
          </a:prstGeom>
          <a:noFill/>
          <a:ln cap="flat" cmpd="sng" w="12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7" name="Google Shape;777;p69"/>
          <p:cNvSpPr/>
          <p:nvPr/>
        </p:nvSpPr>
        <p:spPr>
          <a:xfrm>
            <a:off x="9670973" y="3329811"/>
            <a:ext cx="20292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Google Drive for centralized storage of important documents.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8" name="Google Shape;778;p69"/>
          <p:cNvSpPr/>
          <p:nvPr/>
        </p:nvSpPr>
        <p:spPr>
          <a:xfrm>
            <a:off x="9670973" y="4501313"/>
            <a:ext cx="20292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23"/>
              <a:buFont typeface="Calibri"/>
              <a:buNone/>
            </a:pPr>
            <a:r>
              <a:rPr b="1" i="0" lang="en-US" sz="112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Everyone updates and secures documents for their tasks.</a:t>
            </a:r>
            <a:endParaRPr b="1" i="0" sz="1123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9" name="Google Shape;779;p69"/>
          <p:cNvSpPr txBox="1"/>
          <p:nvPr/>
        </p:nvSpPr>
        <p:spPr>
          <a:xfrm>
            <a:off x="0" y="950975"/>
            <a:ext cx="439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 Process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Woking Methodology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Work process</a:t>
            </a:r>
            <a:endParaRPr/>
          </a:p>
        </p:txBody>
      </p:sp>
      <p:pic>
        <p:nvPicPr>
          <p:cNvPr descr="A white logo with a black background&#10;&#10;AI-generated content may be incorrect." id="786" name="Google Shape;78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0"/>
          <p:cNvSpPr txBox="1"/>
          <p:nvPr/>
        </p:nvSpPr>
        <p:spPr>
          <a:xfrm>
            <a:off x="0" y="950976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 Process</a:t>
            </a:r>
            <a:endParaRPr b="1" sz="2800">
              <a:solidFill>
                <a:srgbClr val="1155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8" name="Google Shape;788;p70"/>
          <p:cNvSpPr/>
          <p:nvPr/>
        </p:nvSpPr>
        <p:spPr>
          <a:xfrm>
            <a:off x="778700" y="1566575"/>
            <a:ext cx="1834500" cy="4719300"/>
          </a:xfrm>
          <a:prstGeom prst="rect">
            <a:avLst/>
          </a:prstGeom>
          <a:solidFill>
            <a:srgbClr val="132249"/>
          </a:solidFill>
          <a:ln cap="flat" cmpd="sng" w="14150">
            <a:solidFill>
              <a:srgbClr val="1322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70"/>
          <p:cNvSpPr/>
          <p:nvPr/>
        </p:nvSpPr>
        <p:spPr>
          <a:xfrm>
            <a:off x="778700" y="1597150"/>
            <a:ext cx="1776000" cy="46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29"/>
              <a:buFont typeface="Calibri"/>
              <a:buNone/>
            </a:pPr>
            <a:r>
              <a:rPr b="1" i="0" lang="en-US" sz="22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</a:t>
            </a:r>
            <a:endParaRPr i="0" sz="2229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29"/>
              <a:buFont typeface="Calibri"/>
              <a:buNone/>
            </a:pPr>
            <a:r>
              <a:rPr b="1" i="0" lang="en-US" sz="22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</a:t>
            </a:r>
            <a:endParaRPr i="0" sz="2229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29"/>
              <a:buFont typeface="Calibri"/>
              <a:buNone/>
            </a:pPr>
            <a:r>
              <a:rPr b="1" i="0" lang="en-US" sz="22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Mentor</a:t>
            </a:r>
            <a:endParaRPr i="0" sz="2229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0" name="Google Shape;790;p70"/>
          <p:cNvSpPr/>
          <p:nvPr/>
        </p:nvSpPr>
        <p:spPr>
          <a:xfrm>
            <a:off x="2633848" y="1597154"/>
            <a:ext cx="8154600" cy="937800"/>
          </a:xfrm>
          <a:prstGeom prst="rect">
            <a:avLst/>
          </a:prstGeom>
          <a:solidFill>
            <a:srgbClr val="FFFFFF"/>
          </a:solidFill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70"/>
          <p:cNvSpPr/>
          <p:nvPr/>
        </p:nvSpPr>
        <p:spPr>
          <a:xfrm>
            <a:off x="2817323" y="1882560"/>
            <a:ext cx="387300" cy="387300"/>
          </a:xfrm>
          <a:prstGeom prst="ellipse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70"/>
          <p:cNvSpPr/>
          <p:nvPr/>
        </p:nvSpPr>
        <p:spPr>
          <a:xfrm>
            <a:off x="2817323" y="1882560"/>
            <a:ext cx="387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6"/>
              <a:buFont typeface="Calibri"/>
              <a:buNone/>
            </a:pPr>
            <a:r>
              <a:rPr b="1" i="0" lang="en-US" sz="122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i="0" sz="1226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3" name="Google Shape;793;p70"/>
          <p:cNvSpPr/>
          <p:nvPr/>
        </p:nvSpPr>
        <p:spPr>
          <a:xfrm>
            <a:off x="3296398" y="1699085"/>
            <a:ext cx="3567600" cy="285300"/>
          </a:xfrm>
          <a:prstGeom prst="rect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0"/>
          <p:cNvSpPr/>
          <p:nvPr/>
        </p:nvSpPr>
        <p:spPr>
          <a:xfrm>
            <a:off x="3316784" y="1699085"/>
            <a:ext cx="3547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Proactive and Timely Communication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5" name="Google Shape;795;p70"/>
          <p:cNvSpPr/>
          <p:nvPr/>
        </p:nvSpPr>
        <p:spPr>
          <a:xfrm>
            <a:off x="3296398" y="2004877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Proactively contact Mentor for technical difficulties or when needing to redefine the project direction.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6" name="Google Shape;796;p70"/>
          <p:cNvSpPr/>
          <p:nvPr/>
        </p:nvSpPr>
        <p:spPr>
          <a:xfrm>
            <a:off x="3296398" y="2239317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Meetings are scheduled 1–2 times/week depending on the stage, or for important workshops.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97" name="Google Shape;797;p70"/>
          <p:cNvCxnSpPr/>
          <p:nvPr/>
        </p:nvCxnSpPr>
        <p:spPr>
          <a:xfrm>
            <a:off x="2735779" y="2534916"/>
            <a:ext cx="7950600" cy="0"/>
          </a:xfrm>
          <a:prstGeom prst="straightConnector1">
            <a:avLst/>
          </a:prstGeom>
          <a:noFill/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8" name="Google Shape;798;p70"/>
          <p:cNvSpPr/>
          <p:nvPr/>
        </p:nvSpPr>
        <p:spPr>
          <a:xfrm>
            <a:off x="2633848" y="2534916"/>
            <a:ext cx="8154600" cy="937800"/>
          </a:xfrm>
          <a:prstGeom prst="rect">
            <a:avLst/>
          </a:prstGeom>
          <a:solidFill>
            <a:srgbClr val="F1F5FB"/>
          </a:solidFill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0"/>
          <p:cNvSpPr/>
          <p:nvPr/>
        </p:nvSpPr>
        <p:spPr>
          <a:xfrm>
            <a:off x="2817323" y="2820321"/>
            <a:ext cx="387300" cy="387300"/>
          </a:xfrm>
          <a:prstGeom prst="ellipse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70"/>
          <p:cNvSpPr/>
          <p:nvPr/>
        </p:nvSpPr>
        <p:spPr>
          <a:xfrm>
            <a:off x="2817323" y="2820321"/>
            <a:ext cx="387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6"/>
              <a:buFont typeface="Calibri"/>
              <a:buNone/>
            </a:pPr>
            <a:r>
              <a:rPr b="1" i="0" lang="en-US" sz="122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i="0" sz="1226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1" name="Google Shape;801;p70"/>
          <p:cNvSpPr/>
          <p:nvPr/>
        </p:nvSpPr>
        <p:spPr>
          <a:xfrm>
            <a:off x="3296398" y="2636846"/>
            <a:ext cx="3567600" cy="285300"/>
          </a:xfrm>
          <a:prstGeom prst="rect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70"/>
          <p:cNvSpPr/>
          <p:nvPr/>
        </p:nvSpPr>
        <p:spPr>
          <a:xfrm>
            <a:off x="3316784" y="2636846"/>
            <a:ext cx="3547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Preparation Before Each Meeting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3" name="Google Shape;803;p70"/>
          <p:cNvSpPr/>
          <p:nvPr/>
        </p:nvSpPr>
        <p:spPr>
          <a:xfrm>
            <a:off x="3296398" y="2942638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Prepare a list of questions, provide brief progress updates, and list current challenges.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4" name="Google Shape;804;p70"/>
          <p:cNvSpPr/>
          <p:nvPr/>
        </p:nvSpPr>
        <p:spPr>
          <a:xfrm>
            <a:off x="3296398" y="3177078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Documents can be sent in advance for the Mentor to review and provide more effective support.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05" name="Google Shape;805;p70"/>
          <p:cNvCxnSpPr/>
          <p:nvPr/>
        </p:nvCxnSpPr>
        <p:spPr>
          <a:xfrm>
            <a:off x="2735779" y="3472677"/>
            <a:ext cx="7950600" cy="0"/>
          </a:xfrm>
          <a:prstGeom prst="straightConnector1">
            <a:avLst/>
          </a:prstGeom>
          <a:noFill/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6" name="Google Shape;806;p70"/>
          <p:cNvSpPr/>
          <p:nvPr/>
        </p:nvSpPr>
        <p:spPr>
          <a:xfrm>
            <a:off x="2633848" y="3472677"/>
            <a:ext cx="8154600" cy="937800"/>
          </a:xfrm>
          <a:prstGeom prst="rect">
            <a:avLst/>
          </a:prstGeom>
          <a:solidFill>
            <a:srgbClr val="FFFFFF"/>
          </a:solidFill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70"/>
          <p:cNvSpPr/>
          <p:nvPr/>
        </p:nvSpPr>
        <p:spPr>
          <a:xfrm>
            <a:off x="2817323" y="3758082"/>
            <a:ext cx="387300" cy="387300"/>
          </a:xfrm>
          <a:prstGeom prst="ellipse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70"/>
          <p:cNvSpPr/>
          <p:nvPr/>
        </p:nvSpPr>
        <p:spPr>
          <a:xfrm>
            <a:off x="2817323" y="3758082"/>
            <a:ext cx="387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6"/>
              <a:buFont typeface="Calibri"/>
              <a:buNone/>
            </a:pPr>
            <a:r>
              <a:rPr b="1" i="0" lang="en-US" sz="122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i="0" sz="1226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9" name="Google Shape;809;p70"/>
          <p:cNvSpPr/>
          <p:nvPr/>
        </p:nvSpPr>
        <p:spPr>
          <a:xfrm>
            <a:off x="3296398" y="3574607"/>
            <a:ext cx="3567600" cy="285300"/>
          </a:xfrm>
          <a:prstGeom prst="rect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70"/>
          <p:cNvSpPr/>
          <p:nvPr/>
        </p:nvSpPr>
        <p:spPr>
          <a:xfrm>
            <a:off x="3316784" y="3574607"/>
            <a:ext cx="3547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Focused Discussion on Core Issues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1" name="Google Shape;811;p70"/>
          <p:cNvSpPr/>
          <p:nvPr/>
        </p:nvSpPr>
        <p:spPr>
          <a:xfrm>
            <a:off x="3296398" y="3880399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solutions (especially related to the kit), hardware integration, system architecture (Cloud, API...).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2" name="Google Shape;812;p70"/>
          <p:cNvSpPr/>
          <p:nvPr/>
        </p:nvSpPr>
        <p:spPr>
          <a:xfrm>
            <a:off x="3296398" y="4114839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Clarify product scope, feasible directions, and learn from the Mentor's practical experience.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13" name="Google Shape;813;p70"/>
          <p:cNvCxnSpPr/>
          <p:nvPr/>
        </p:nvCxnSpPr>
        <p:spPr>
          <a:xfrm>
            <a:off x="2735779" y="4410438"/>
            <a:ext cx="7950600" cy="0"/>
          </a:xfrm>
          <a:prstGeom prst="straightConnector1">
            <a:avLst/>
          </a:prstGeom>
          <a:noFill/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p70"/>
          <p:cNvSpPr/>
          <p:nvPr/>
        </p:nvSpPr>
        <p:spPr>
          <a:xfrm>
            <a:off x="2633848" y="4410438"/>
            <a:ext cx="8154600" cy="937800"/>
          </a:xfrm>
          <a:prstGeom prst="rect">
            <a:avLst/>
          </a:prstGeom>
          <a:solidFill>
            <a:srgbClr val="F1F5FB"/>
          </a:solidFill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0"/>
          <p:cNvSpPr/>
          <p:nvPr/>
        </p:nvSpPr>
        <p:spPr>
          <a:xfrm>
            <a:off x="2817323" y="4695844"/>
            <a:ext cx="387300" cy="387300"/>
          </a:xfrm>
          <a:prstGeom prst="ellipse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0"/>
          <p:cNvSpPr/>
          <p:nvPr/>
        </p:nvSpPr>
        <p:spPr>
          <a:xfrm>
            <a:off x="2817323" y="4695844"/>
            <a:ext cx="387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6"/>
              <a:buFont typeface="Calibri"/>
              <a:buNone/>
            </a:pPr>
            <a:r>
              <a:rPr b="1" i="0" lang="en-US" sz="122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i="0" sz="1226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7" name="Google Shape;817;p70"/>
          <p:cNvSpPr/>
          <p:nvPr/>
        </p:nvSpPr>
        <p:spPr>
          <a:xfrm>
            <a:off x="3296398" y="4512369"/>
            <a:ext cx="3567600" cy="285300"/>
          </a:xfrm>
          <a:prstGeom prst="rect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70"/>
          <p:cNvSpPr/>
          <p:nvPr/>
        </p:nvSpPr>
        <p:spPr>
          <a:xfrm>
            <a:off x="3316784" y="4512369"/>
            <a:ext cx="3547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Maximize Workshop Benefits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3296398" y="4818160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Attend all FPT – Silicon Labs workshops and take detailed notes.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3296398" y="5052601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Unclear questions will be compiled and asked to the Mentor in the next meeting.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21" name="Google Shape;821;p70"/>
          <p:cNvCxnSpPr/>
          <p:nvPr/>
        </p:nvCxnSpPr>
        <p:spPr>
          <a:xfrm>
            <a:off x="2735779" y="5348199"/>
            <a:ext cx="7950600" cy="0"/>
          </a:xfrm>
          <a:prstGeom prst="straightConnector1">
            <a:avLst/>
          </a:prstGeom>
          <a:noFill/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70"/>
          <p:cNvSpPr/>
          <p:nvPr/>
        </p:nvSpPr>
        <p:spPr>
          <a:xfrm>
            <a:off x="2633848" y="5348199"/>
            <a:ext cx="8154600" cy="937800"/>
          </a:xfrm>
          <a:prstGeom prst="rect">
            <a:avLst/>
          </a:prstGeom>
          <a:solidFill>
            <a:srgbClr val="FFFFFF"/>
          </a:solidFill>
          <a:ln cap="flat" cmpd="sng" w="106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70"/>
          <p:cNvSpPr/>
          <p:nvPr/>
        </p:nvSpPr>
        <p:spPr>
          <a:xfrm>
            <a:off x="2817323" y="5633605"/>
            <a:ext cx="387300" cy="387300"/>
          </a:xfrm>
          <a:prstGeom prst="ellipse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70"/>
          <p:cNvSpPr/>
          <p:nvPr/>
        </p:nvSpPr>
        <p:spPr>
          <a:xfrm>
            <a:off x="2817323" y="5633605"/>
            <a:ext cx="387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6"/>
              <a:buFont typeface="Calibri"/>
              <a:buNone/>
            </a:pPr>
            <a:r>
              <a:rPr b="1" i="0" lang="en-US" sz="122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i="0" sz="1226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3296398" y="5450130"/>
            <a:ext cx="3567600" cy="285300"/>
          </a:xfrm>
          <a:prstGeom prst="rect">
            <a:avLst/>
          </a:prstGeom>
          <a:solidFill>
            <a:srgbClr val="1E3A7B"/>
          </a:solidFill>
          <a:ln cap="flat" cmpd="sng" w="14150">
            <a:solidFill>
              <a:srgbClr val="1E3A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925" lIns="101925" spcFirstLastPara="1" rIns="101925" wrap="square" tIns="10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70"/>
          <p:cNvSpPr/>
          <p:nvPr/>
        </p:nvSpPr>
        <p:spPr>
          <a:xfrm>
            <a:off x="3316784" y="5450130"/>
            <a:ext cx="3547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Immediate Action and Regular Updates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7" name="Google Shape;827;p70"/>
          <p:cNvSpPr/>
          <p:nvPr/>
        </p:nvSpPr>
        <p:spPr>
          <a:xfrm>
            <a:off x="3296398" y="5755922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the meeting, the team discusses and applies feedback to their work.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3296398" y="5990362"/>
            <a:ext cx="7288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48"/>
              <a:buFont typeface="Calibri"/>
              <a:buNone/>
            </a:pPr>
            <a:r>
              <a:rPr b="1" i="0" lang="en-US" sz="1048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</a:t>
            </a:r>
            <a:r>
              <a:rPr b="1" i="0" lang="en-US" sz="104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Proactively update progress and provide feedback to the Mentor through agreed-upon channels (email, Zalo...).</a:t>
            </a:r>
            <a:endParaRPr b="1" i="0" sz="1048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1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Live Demo</a:t>
            </a:r>
            <a:endParaRPr/>
          </a:p>
        </p:txBody>
      </p:sp>
      <p:sp>
        <p:nvSpPr>
          <p:cNvPr id="835" name="Google Shape;835;p71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6" name="Google Shape;836;p71"/>
          <p:cNvSpPr txBox="1"/>
          <p:nvPr/>
        </p:nvSpPr>
        <p:spPr>
          <a:xfrm>
            <a:off x="389615" y="1152940"/>
            <a:ext cx="961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logo with a black background&#10;&#10;AI-generated content may be incorrect." id="837" name="Google Shape;83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1"/>
          <p:cNvSpPr txBox="1"/>
          <p:nvPr/>
        </p:nvSpPr>
        <p:spPr>
          <a:xfrm>
            <a:off x="0" y="978600"/>
            <a:ext cx="413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milestones achieved: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39" name="Google Shape;839;p71"/>
          <p:cNvPicPr preferRelativeResize="0"/>
          <p:nvPr/>
        </p:nvPicPr>
        <p:blipFill rotWithShape="1">
          <a:blip r:embed="rId4">
            <a:alphaModFix/>
          </a:blip>
          <a:srcRect b="1030" l="2500" r="-2500" t="-1030"/>
          <a:stretch/>
        </p:blipFill>
        <p:spPr>
          <a:xfrm>
            <a:off x="3946200" y="1083775"/>
            <a:ext cx="8461824" cy="5149476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1"/>
          <p:cNvSpPr txBox="1"/>
          <p:nvPr/>
        </p:nvSpPr>
        <p:spPr>
          <a:xfrm>
            <a:off x="389625" y="1824600"/>
            <a:ext cx="37146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/>
              <a:t>① </a:t>
            </a:r>
            <a:r>
              <a:rPr lang="en-US" sz="1800"/>
              <a:t>hardware prototype assembled </a:t>
            </a:r>
            <a:br>
              <a:rPr lang="en-US" sz="1800"/>
            </a:br>
            <a:r>
              <a:rPr lang="en-US" sz="1800"/>
              <a:t>&amp; operational </a:t>
            </a:r>
            <a:r>
              <a:rPr lang="en-US" sz="1800"/>
              <a:t> </a:t>
            </a:r>
            <a:br>
              <a:rPr lang="en-US" sz="1800"/>
            </a:br>
            <a:r>
              <a:rPr lang="en-US" sz="1800"/>
              <a:t>② </a:t>
            </a:r>
            <a:r>
              <a:rPr lang="en-US" sz="1800"/>
              <a:t>real-time simulation of three EMG signal types</a:t>
            </a:r>
            <a:br>
              <a:rPr lang="en-US" sz="1800"/>
            </a:br>
            <a:r>
              <a:rPr lang="en-US" sz="1800"/>
              <a:t>③ </a:t>
            </a:r>
            <a:r>
              <a:rPr lang="en-US" sz="1800"/>
              <a:t>AI model trained on PC with</a:t>
            </a:r>
            <a:br>
              <a:rPr lang="en-US" sz="1800"/>
            </a:br>
            <a:r>
              <a:rPr lang="en-US" sz="1800"/>
              <a:t>high confidence</a:t>
            </a:r>
            <a:br>
              <a:rPr lang="en-US" sz="1800"/>
            </a:br>
            <a:r>
              <a:rPr lang="en-US" sz="1800">
                <a:solidFill>
                  <a:srgbClr val="1155CC"/>
                </a:solidFill>
              </a:rPr>
              <a:t>Note: The current demo focuses on EMG signal simulation and AI training on PC. Hardware integration with Edge AI deployment on EFR32xG24 is the next development phase</a:t>
            </a:r>
            <a:endParaRPr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2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Live Demo</a:t>
            </a:r>
            <a:endParaRPr/>
          </a:p>
        </p:txBody>
      </p:sp>
      <p:sp>
        <p:nvSpPr>
          <p:cNvPr id="847" name="Google Shape;847;p72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8" name="Google Shape;848;p72"/>
          <p:cNvSpPr txBox="1"/>
          <p:nvPr/>
        </p:nvSpPr>
        <p:spPr>
          <a:xfrm>
            <a:off x="389615" y="1152940"/>
            <a:ext cx="961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logo with a black background&#10;&#10;AI-generated content may be incorrect." id="849" name="Google Shape;84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2"/>
          <p:cNvSpPr txBox="1"/>
          <p:nvPr/>
        </p:nvSpPr>
        <p:spPr>
          <a:xfrm>
            <a:off x="0" y="978600"/>
            <a:ext cx="413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423150" y="1902000"/>
            <a:ext cx="38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1155CC"/>
              </a:solidFill>
            </a:endParaRPr>
          </a:p>
        </p:txBody>
      </p:sp>
      <p:pic>
        <p:nvPicPr>
          <p:cNvPr id="852" name="Google Shape;85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600" y="1879475"/>
            <a:ext cx="5833827" cy="388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750" y="1889425"/>
            <a:ext cx="5932652" cy="388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3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Live Demo</a:t>
            </a:r>
            <a:endParaRPr/>
          </a:p>
        </p:txBody>
      </p:sp>
      <p:sp>
        <p:nvSpPr>
          <p:cNvPr id="860" name="Google Shape;860;p73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1" name="Google Shape;861;p73"/>
          <p:cNvSpPr txBox="1"/>
          <p:nvPr/>
        </p:nvSpPr>
        <p:spPr>
          <a:xfrm>
            <a:off x="389615" y="1152940"/>
            <a:ext cx="961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logo with a black background&#10;&#10;AI-generated content may be incorrect." id="862" name="Google Shape;86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3"/>
          <p:cNvSpPr txBox="1"/>
          <p:nvPr/>
        </p:nvSpPr>
        <p:spPr>
          <a:xfrm>
            <a:off x="0" y="978600"/>
            <a:ext cx="413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4" name="Google Shape;864;p73"/>
          <p:cNvSpPr txBox="1"/>
          <p:nvPr/>
        </p:nvSpPr>
        <p:spPr>
          <a:xfrm>
            <a:off x="423150" y="1902000"/>
            <a:ext cx="38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1155CC"/>
              </a:solidFill>
            </a:endParaRPr>
          </a:p>
        </p:txBody>
      </p:sp>
      <p:pic>
        <p:nvPicPr>
          <p:cNvPr id="865" name="Google Shape;865;p73" title="Quay màn hình 2026-05-12 18273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0375" y="1979081"/>
            <a:ext cx="8279598" cy="431679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3"/>
          <p:cNvSpPr txBox="1"/>
          <p:nvPr/>
        </p:nvSpPr>
        <p:spPr>
          <a:xfrm>
            <a:off x="10235775" y="1194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4"/>
          <p:cNvSpPr txBox="1"/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Live Demo</a:t>
            </a:r>
            <a:endParaRPr/>
          </a:p>
        </p:txBody>
      </p:sp>
      <p:sp>
        <p:nvSpPr>
          <p:cNvPr id="873" name="Google Shape;873;p74"/>
          <p:cNvSpPr txBox="1"/>
          <p:nvPr>
            <p:ph idx="12" type="sldNum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4" name="Google Shape;874;p74"/>
          <p:cNvSpPr txBox="1"/>
          <p:nvPr/>
        </p:nvSpPr>
        <p:spPr>
          <a:xfrm>
            <a:off x="389615" y="1152940"/>
            <a:ext cx="961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logo with a black background&#10;&#10;AI-generated content may be incorrect." id="875" name="Google Shape;87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4"/>
          <p:cNvSpPr txBox="1"/>
          <p:nvPr/>
        </p:nvSpPr>
        <p:spPr>
          <a:xfrm>
            <a:off x="0" y="978600"/>
            <a:ext cx="413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1" sz="2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</a:t>
            </a:r>
            <a:r>
              <a:rPr b="1" lang="en-US" sz="2000">
                <a:solidFill>
                  <a:srgbClr val="3C78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1" sz="2000">
              <a:solidFill>
                <a:srgbClr val="3C78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7" name="Google Shape;877;p74"/>
          <p:cNvSpPr txBox="1"/>
          <p:nvPr/>
        </p:nvSpPr>
        <p:spPr>
          <a:xfrm>
            <a:off x="423150" y="1902000"/>
            <a:ext cx="38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1155CC"/>
              </a:solidFill>
            </a:endParaRPr>
          </a:p>
        </p:txBody>
      </p:sp>
      <p:pic>
        <p:nvPicPr>
          <p:cNvPr id="878" name="Google Shape;878;p74" title="z7820938161464_9f6f8f8c08683d03abe2c37e9e9106f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3425" y="1902000"/>
            <a:ext cx="2703447" cy="4825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4" title="z7820938861951_e4f348b2a8836ab3a65a2df58ad8e48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9100" y="1901603"/>
            <a:ext cx="2703451" cy="4826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6" name="Google Shape;886;p7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7" name="Google Shape;887;p7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8" name="Google Shape;888;p7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9" name="Google Shape;889;p7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0" name="Google Shape;890;p7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1" name="Google Shape;891;p75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34EA2"/>
      </a:dk1>
      <a:lt1>
        <a:srgbClr val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